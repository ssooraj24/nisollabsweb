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Barlow"/>
      <p:regular r:id="rId201314"/>
    </p:embeddedFont>
    <p:embeddedFont>
      <p:font typeface="Barlow Bold"/>
      <p:regular r:id="rId201315"/>
    </p:embeddedFont>
    <p:embeddedFont>
      <p:font typeface="Barlow Black"/>
      <p:regular r:id="rId201316"/>
    </p:embeddedFont>
    <p:embeddedFont>
      <p:font typeface="Spline Sans Bold"/>
      <p:regular r:id="rId201317"/>
    </p:embeddedFont>
    <p:embeddedFont>
      <p:font typeface="Spline Sans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jpe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svg"/><Relationship Id="rId6" Type="http://schemas.openxmlformats.org/officeDocument/2006/relationships/image" Target="../media/image-6-6.png"/><Relationship Id="rId7" Type="http://schemas.openxmlformats.org/officeDocument/2006/relationships/image" Target="../media/image-6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4.png"/><Relationship Id="rId5" Type="http://schemas.openxmlformats.org/officeDocument/2006/relationships/image" Target="../media/image-8-5.svg"/><Relationship Id="rId6" Type="http://schemas.openxmlformats.org/officeDocument/2006/relationships/image" Target="../media/image-8-6.png"/><Relationship Id="rId7" Type="http://schemas.openxmlformats.org/officeDocument/2006/relationships/image" Target="../media/image-8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7-2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4200" y="1397099"/>
            <a:ext cx="6151409" cy="582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The Novatech AI Advantage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734200" y="2294434"/>
            <a:ext cx="6151409" cy="16085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0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Readiness &amp; Demystification</a:t>
            </a:r>
            <a:endParaRPr lang="en-US" sz="5050" dirty="0"/>
          </a:p>
        </p:txBody>
      </p:sp>
      <p:sp>
        <p:nvSpPr>
          <p:cNvPr id="5" name="Text 2"/>
          <p:cNvSpPr/>
          <p:nvPr/>
        </p:nvSpPr>
        <p:spPr>
          <a:xfrm>
            <a:off x="734200" y="4217591"/>
            <a:ext cx="6151409" cy="1243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850"/>
              </a:spcAft>
              <a:buNone/>
            </a:pPr>
            <a:r>
              <a:rPr lang="en-US" sz="16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Session 1: Your Superpower, Not Your Replacement</a:t>
            </a:r>
            <a:endParaRPr lang="en-US" sz="1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We are not here to teach you computer science. We are here to give you back 10 hours of your week. Let's talk about your actual jobs.</a:t>
            </a:r>
            <a:endParaRPr lang="en-US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4200" y="857448"/>
            <a:ext cx="2354104" cy="302816"/>
          </a:xfrm>
          <a:prstGeom prst="roundRect">
            <a:avLst>
              <a:gd name="adj" fmla="val 49999"/>
            </a:avLst>
          </a:prstGeom>
          <a:solidFill>
            <a:srgbClr val="004D36"/>
          </a:solidFill>
          <a:ln/>
        </p:spPr>
      </p:sp>
      <p:sp>
        <p:nvSpPr>
          <p:cNvPr id="3" name="Text 1"/>
          <p:cNvSpPr/>
          <p:nvPr/>
        </p:nvSpPr>
        <p:spPr>
          <a:xfrm>
            <a:off x="853756" y="917178"/>
            <a:ext cx="2724578" cy="1833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UNCOMFORTABLE TRUTH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34200" y="1235968"/>
            <a:ext cx="10723294" cy="553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We Are 38 Points Behind Our Top Competitors</a:t>
            </a:r>
            <a:endParaRPr lang="en-US" sz="34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4200" y="2286496"/>
            <a:ext cx="4862589" cy="35011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45277" y="2262882"/>
            <a:ext cx="5118567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Our Shared Call to Action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345277" y="2729012"/>
            <a:ext cx="5118567" cy="17251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1300"/>
              </a:spcAft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Our competitors are shipping features </a:t>
            </a:r>
            <a:pPr algn="l" indent="0" marL="0">
              <a:lnSpc>
                <a:spcPct val="130000"/>
              </a:lnSpc>
              <a:spcAft>
                <a:spcPts val="1300"/>
              </a:spcAft>
              <a:buNone/>
            </a:pPr>
            <a:r>
              <a:rPr lang="en-US" sz="15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3× faster</a:t>
            </a:r>
            <a:pPr algn="l" indent="0" marL="0">
              <a:lnSpc>
                <a:spcPct val="130000"/>
              </a:lnSpc>
              <a:spcAft>
                <a:spcPts val="1300"/>
              </a:spcAft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— using AI to write QA tests, generate RFPs, and automate manual workflows.</a:t>
            </a:r>
            <a:endParaRPr lang="en-US" sz="15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This is not an accusation. It is a </a:t>
            </a:r>
            <a:pPr algn="l"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16FFB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90-day mandate to close the gap.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6345277" y="4667052"/>
            <a:ext cx="5118567" cy="1062236"/>
          </a:xfrm>
          <a:prstGeom prst="roundRect">
            <a:avLst>
              <a:gd name="adj" fmla="val 28145"/>
            </a:avLst>
          </a:prstGeom>
          <a:solidFill>
            <a:srgbClr val="00805A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4503" y="4960441"/>
            <a:ext cx="249132" cy="19923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92862" y="4887218"/>
            <a:ext cx="4271756" cy="621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AI readiness is now a competitive differentiator. The window to act is open — but not indefinitely.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06086" y="1057771"/>
            <a:ext cx="6151409" cy="763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"Will AI take my job?"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5306086" y="2105720"/>
            <a:ext cx="6151409" cy="621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honest answer is </a:t>
            </a:r>
            <a:pPr algn="l" indent="0" marL="0">
              <a:lnSpc>
                <a:spcPct val="130000"/>
              </a:lnSpc>
              <a:buNone/>
            </a:pPr>
            <a:r>
              <a:rPr lang="en-US" sz="15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no.</a:t>
            </a:r>
            <a:pPr algn="l"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But a person using AI will absolutely outperform a person who doesn't.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5306086" y="2940546"/>
            <a:ext cx="6151409" cy="2859683"/>
          </a:xfrm>
          <a:prstGeom prst="roundRect">
            <a:avLst>
              <a:gd name="adj" fmla="val 10454"/>
            </a:avLst>
          </a:prstGeom>
          <a:solidFill>
            <a:srgbClr val="0A081B"/>
          </a:solidFill>
          <a:ln w="19050">
            <a:solidFill>
              <a:srgbClr val="16FFB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325136" y="2959596"/>
            <a:ext cx="6113310" cy="1410791"/>
          </a:xfrm>
          <a:custGeom>
            <a:avLst/>
            <a:gdLst/>
            <a:ahLst/>
            <a:cxnLst/>
            <a:rect l="l" t="t" r="r" b="b"/>
            <a:pathLst>
              <a:path w="6113310" h="1410791">
                <a:moveTo>
                  <a:pt x="249137" y="0"/>
                </a:moveTo>
                <a:lnTo>
                  <a:pt x="5864172" y="0"/>
                </a:lnTo>
                <a:arcTo hR="249144" wR="249137" stAng="16200000" swAng="5400000"/>
                <a:lnTo>
                  <a:pt x="6113310" y="1410791"/>
                </a:lnTo>
                <a:lnTo>
                  <a:pt x="0" y="1410791"/>
                </a:lnTo>
                <a:lnTo>
                  <a:pt x="0" y="249144"/>
                </a:lnTo>
                <a:arcTo hR="249144" wR="249137" stAng="10800000" swAng="5400000"/>
                <a:close/>
              </a:path>
            </a:pathLst>
          </a:custGeom>
          <a:solidFill>
            <a:srgbClr val="0A081B"/>
          </a:solidFill>
          <a:ln/>
        </p:spPr>
      </p:sp>
      <p:sp>
        <p:nvSpPr>
          <p:cNvPr id="7" name="Text 4"/>
          <p:cNvSpPr/>
          <p:nvPr/>
        </p:nvSpPr>
        <p:spPr>
          <a:xfrm>
            <a:off x="5524362" y="3158827"/>
            <a:ext cx="5714857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What We Are Automating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5524362" y="3549253"/>
            <a:ext cx="5714857" cy="621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Boring, repetitive tasks that drain your week — boilerplate code, invoice matching, proposal hunting.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5325136" y="4370388"/>
            <a:ext cx="6113310" cy="1410791"/>
          </a:xfrm>
          <a:custGeom>
            <a:avLst/>
            <a:gdLst/>
            <a:ahLst/>
            <a:cxnLst/>
            <a:rect l="l" t="t" r="r" b="b"/>
            <a:pathLst>
              <a:path w="6113310" h="1410791">
                <a:moveTo>
                  <a:pt x="0" y="0"/>
                </a:moveTo>
                <a:lnTo>
                  <a:pt x="6113310" y="0"/>
                </a:lnTo>
                <a:lnTo>
                  <a:pt x="6113310" y="1161648"/>
                </a:lnTo>
                <a:arcTo hR="249144" wR="249137" stAng="0" swAng="5400000"/>
                <a:lnTo>
                  <a:pt x="249137" y="1410791"/>
                </a:lnTo>
                <a:arcTo hR="249144" wR="249137" stAng="5400000" swAng="5400000"/>
                <a:lnTo>
                  <a:pt x="0" y="0"/>
                </a:lnTo>
                <a:close/>
              </a:path>
            </a:pathLst>
          </a:custGeom>
          <a:solidFill>
            <a:srgbClr val="0A081B"/>
          </a:solidFill>
          <a:ln/>
        </p:spPr>
      </p:sp>
      <p:sp>
        <p:nvSpPr>
          <p:cNvPr id="10" name="Shape 7"/>
          <p:cNvSpPr/>
          <p:nvPr/>
        </p:nvSpPr>
        <p:spPr>
          <a:xfrm>
            <a:off x="5325136" y="4370388"/>
            <a:ext cx="6113310" cy="25400"/>
          </a:xfrm>
          <a:prstGeom prst="roundRect">
            <a:avLst>
              <a:gd name="adj" fmla="val 49999"/>
            </a:avLst>
          </a:prstGeom>
          <a:solidFill>
            <a:srgbClr val="0FC3C0"/>
          </a:solidFill>
          <a:ln/>
        </p:spPr>
      </p:sp>
      <p:sp>
        <p:nvSpPr>
          <p:cNvPr id="11" name="Text 8"/>
          <p:cNvSpPr/>
          <p:nvPr/>
        </p:nvSpPr>
        <p:spPr>
          <a:xfrm>
            <a:off x="5524362" y="4569619"/>
            <a:ext cx="5714857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What You Become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5524362" y="4960045"/>
            <a:ext cx="5714857" cy="621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From </a:t>
            </a:r>
            <a:pPr algn="l" indent="0" marL="0">
              <a:lnSpc>
                <a:spcPct val="130000"/>
              </a:lnSpc>
              <a:buNone/>
            </a:pPr>
            <a:r>
              <a:rPr lang="en-US" sz="15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Typist</a:t>
            </a:r>
            <a:pPr algn="l"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to </a:t>
            </a:r>
            <a:pPr algn="l" indent="0" marL="0">
              <a:lnSpc>
                <a:spcPct val="130000"/>
              </a:lnSpc>
              <a:buNone/>
            </a:pPr>
            <a:r>
              <a:rPr lang="en-US" sz="15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Architect.</a:t>
            </a:r>
            <a:pPr algn="l"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You design, review, and decide. AI executes the draft.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4200" y="1040507"/>
            <a:ext cx="1435659" cy="318790"/>
          </a:xfrm>
          <a:prstGeom prst="roundRect">
            <a:avLst>
              <a:gd name="adj" fmla="val 49999"/>
            </a:avLst>
          </a:prstGeom>
          <a:noFill/>
          <a:ln w="19050">
            <a:solidFill>
              <a:srgbClr val="16FFB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0007" y="1103412"/>
            <a:ext cx="1793632" cy="192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300" dirty="0">
                <a:solidFill>
                  <a:srgbClr val="16FFB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PAIN POINT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4200" y="1443137"/>
            <a:ext cx="10723294" cy="582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Your Day, Before AI</a:t>
            </a:r>
            <a:endParaRPr lang="en-US" sz="3650" dirty="0"/>
          </a:p>
        </p:txBody>
      </p:sp>
      <p:sp>
        <p:nvSpPr>
          <p:cNvPr id="5" name="Text 3"/>
          <p:cNvSpPr/>
          <p:nvPr/>
        </p:nvSpPr>
        <p:spPr>
          <a:xfrm>
            <a:off x="734200" y="2340471"/>
            <a:ext cx="11332879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Manual labor with </a:t>
            </a:r>
            <a:pPr algn="l" indent="0" marL="0">
              <a:lnSpc>
                <a:spcPct val="133000"/>
              </a:lnSpc>
              <a:buNone/>
            </a:pPr>
            <a:r>
              <a:rPr lang="en-US" sz="16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zero strategic return</a:t>
            </a:r>
            <a:pPr algn="l" indent="0" marL="0">
              <a:lnSpc>
                <a:spcPct val="133000"/>
              </a:lnSpc>
              <a:buNone/>
            </a:pP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— causing burnout, delays, and missed client commitments.</a:t>
            </a:r>
            <a:endParaRPr lang="en-US" sz="16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4200" y="2912170"/>
            <a:ext cx="1971725" cy="121860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4200" y="4393009"/>
            <a:ext cx="3399546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Engineers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34200" y="4810224"/>
            <a:ext cx="3399546" cy="10072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15 hours/week</a:t>
            </a:r>
            <a:pPr algn="l" indent="0" marL="0">
              <a:lnSpc>
                <a:spcPct val="133000"/>
              </a:lnSpc>
              <a:buNone/>
            </a:pP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writing boilerplate test scripts — time stolen from core product development.</a:t>
            </a:r>
            <a:endParaRPr lang="en-US" sz="16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5975" y="2912170"/>
            <a:ext cx="1971725" cy="121860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395975" y="4393009"/>
            <a:ext cx="3399645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Finance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4395975" y="4810224"/>
            <a:ext cx="3399645" cy="10072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5 manual touches</a:t>
            </a:r>
            <a:pPr algn="l" indent="0" marL="0">
              <a:lnSpc>
                <a:spcPct val="133000"/>
              </a:lnSpc>
              <a:buNone/>
            </a:pP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on every invoice. Slow approvals. Month-end close takes 10 days.</a:t>
            </a:r>
            <a:endParaRPr lang="en-US" sz="16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7849" y="2912170"/>
            <a:ext cx="1971725" cy="121860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057849" y="4393009"/>
            <a:ext cx="3399645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Sales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8057849" y="4810224"/>
            <a:ext cx="3399645" cy="10072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20+ hours/week</a:t>
            </a:r>
            <a:pPr algn="l" indent="0" marL="0">
              <a:lnSpc>
                <a:spcPct val="133000"/>
              </a:lnSpc>
              <a:buNone/>
            </a:pP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hunting for past proposals instead of building client relationships.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4200" y="688975"/>
            <a:ext cx="1193472" cy="239018"/>
          </a:xfrm>
          <a:prstGeom prst="roundRect">
            <a:avLst>
              <a:gd name="adj" fmla="val 49999"/>
            </a:avLst>
          </a:prstGeom>
          <a:solidFill>
            <a:srgbClr val="004D36"/>
          </a:solidFill>
          <a:ln/>
        </p:spPr>
      </p:sp>
      <p:sp>
        <p:nvSpPr>
          <p:cNvPr id="3" name="Text 1"/>
          <p:cNvSpPr/>
          <p:nvPr/>
        </p:nvSpPr>
        <p:spPr>
          <a:xfrm>
            <a:off x="828555" y="736104"/>
            <a:ext cx="1614348" cy="144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DESTINATION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34200" y="975122"/>
            <a:ext cx="10723294" cy="437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Your Day, After AI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734200" y="1589187"/>
            <a:ext cx="11332879" cy="220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AI handles the 80% grunt work. You focus on the 20% — high-judgment, high-impact decisions.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4200" y="2060178"/>
            <a:ext cx="3503624" cy="218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Before → After</a:t>
            </a:r>
            <a:endParaRPr lang="en-US" sz="13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4200" y="2411413"/>
            <a:ext cx="3503624" cy="112960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86706" y="2587724"/>
            <a:ext cx="3074811" cy="218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Engineers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986706" y="2924175"/>
            <a:ext cx="3074811" cy="440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15 hrs → </a:t>
            </a:r>
            <a:pPr algn="l" indent="0" marL="0">
              <a:lnSpc>
                <a:spcPct val="117000"/>
              </a:lnSpc>
              <a:buNone/>
            </a:pPr>
            <a:r>
              <a:rPr lang="en-US" sz="1200" b="1" dirty="0">
                <a:solidFill>
                  <a:srgbClr val="16FFBB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1 hr review.</a:t>
            </a:r>
            <a:pPr algn="l" indent="0" marL="0">
              <a:lnSpc>
                <a:spcPct val="117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14 hrs recovered for product development.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4200" y="3658989"/>
            <a:ext cx="3503624" cy="112960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86706" y="3835301"/>
            <a:ext cx="3074811" cy="218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Finance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986706" y="4171752"/>
            <a:ext cx="3074811" cy="440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5 touches → </a:t>
            </a:r>
            <a:pPr algn="l" indent="0" marL="0">
              <a:lnSpc>
                <a:spcPct val="117000"/>
              </a:lnSpc>
              <a:buNone/>
            </a:pPr>
            <a:r>
              <a:rPr lang="en-US" sz="1200" b="1" dirty="0">
                <a:solidFill>
                  <a:srgbClr val="16FFBB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1 click approve.</a:t>
            </a:r>
            <a:pPr algn="l" indent="0" marL="0">
              <a:lnSpc>
                <a:spcPct val="117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Close books in 4 days, not 10.</a:t>
            </a:r>
            <a:endParaRPr lang="en-US" sz="12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4200" y="4906566"/>
            <a:ext cx="3503624" cy="112960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86706" y="5082877"/>
            <a:ext cx="3074811" cy="218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Sales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986706" y="5419328"/>
            <a:ext cx="3074811" cy="440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20 hrs → </a:t>
            </a:r>
            <a:pPr algn="l" indent="0" marL="0">
              <a:lnSpc>
                <a:spcPct val="117000"/>
              </a:lnSpc>
              <a:buNone/>
            </a:pPr>
            <a:r>
              <a:rPr lang="en-US" sz="1200" b="1" dirty="0">
                <a:solidFill>
                  <a:srgbClr val="16FFBB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25 min draft.</a:t>
            </a:r>
            <a:pPr algn="l" indent="0" marL="0">
              <a:lnSpc>
                <a:spcPct val="117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Spend the rest winning the deal.</a:t>
            </a:r>
            <a:endParaRPr lang="en-US" sz="12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2393" y="2602905"/>
            <a:ext cx="5126802" cy="290522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4200" y="580628"/>
            <a:ext cx="1093462" cy="254893"/>
          </a:xfrm>
          <a:prstGeom prst="roundRect">
            <a:avLst>
              <a:gd name="adj" fmla="val 49999"/>
            </a:avLst>
          </a:prstGeom>
          <a:noFill/>
          <a:ln w="12700">
            <a:solidFill>
              <a:srgbClr val="16FFB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34806" y="630932"/>
            <a:ext cx="1501837" cy="154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16FFB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HOW IT WORKS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4200" y="889198"/>
            <a:ext cx="10723294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Meet Your Digital Intern</a:t>
            </a:r>
            <a:endParaRPr lang="en-US" sz="29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6908" y="2369542"/>
            <a:ext cx="5461359" cy="309483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76690" y="1677392"/>
            <a:ext cx="3487055" cy="725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It has read </a:t>
            </a:r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every</a:t>
            </a:r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past proposal, </a:t>
            </a:r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every</a:t>
            </a:r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code commit, and </a:t>
            </a:r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every</a:t>
            </a:r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policy handbook at Novatech.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39593" y="2558653"/>
            <a:ext cx="251712" cy="25171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522082" y="2553494"/>
            <a:ext cx="2941663" cy="233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What It Does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8522082" y="2920901"/>
            <a:ext cx="2941663" cy="725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Predicts the next best word using Novatech's historical data — at machine speed, 24/7.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39593" y="3919637"/>
            <a:ext cx="251712" cy="25171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522082" y="3914477"/>
            <a:ext cx="2941663" cy="233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What It Can't Do</a:t>
            </a:r>
            <a:endParaRPr lang="en-US" sz="1450" dirty="0"/>
          </a:p>
        </p:txBody>
      </p:sp>
      <p:sp>
        <p:nvSpPr>
          <p:cNvPr id="12" name="Text 7"/>
          <p:cNvSpPr/>
          <p:nvPr/>
        </p:nvSpPr>
        <p:spPr>
          <a:xfrm>
            <a:off x="8522082" y="4281884"/>
            <a:ext cx="2941663" cy="725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It has zero common sense. It cannot judge brand tone, strategic risk, or client nuance.</a:t>
            </a:r>
            <a:endParaRPr lang="en-US" sz="13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39593" y="5280620"/>
            <a:ext cx="251712" cy="25171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522082" y="5275461"/>
            <a:ext cx="2941663" cy="233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Your Role</a:t>
            </a:r>
            <a:endParaRPr lang="en-US" sz="1450" dirty="0"/>
          </a:p>
        </p:txBody>
      </p:sp>
      <p:sp>
        <p:nvSpPr>
          <p:cNvPr id="15" name="Text 9"/>
          <p:cNvSpPr/>
          <p:nvPr/>
        </p:nvSpPr>
        <p:spPr>
          <a:xfrm>
            <a:off x="8522082" y="5642868"/>
            <a:ext cx="2941663" cy="483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Review. Correct. Approve. </a:t>
            </a:r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6FFB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You are the quality controller.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4200" y="762794"/>
            <a:ext cx="1098225" cy="254893"/>
          </a:xfrm>
          <a:prstGeom prst="roundRect">
            <a:avLst>
              <a:gd name="adj" fmla="val 49999"/>
            </a:avLst>
          </a:prstGeom>
          <a:solidFill>
            <a:srgbClr val="004D36"/>
          </a:solidFill>
          <a:ln/>
        </p:spPr>
      </p:sp>
      <p:sp>
        <p:nvSpPr>
          <p:cNvPr id="3" name="Text 1"/>
          <p:cNvSpPr/>
          <p:nvPr/>
        </p:nvSpPr>
        <p:spPr>
          <a:xfrm>
            <a:off x="834806" y="813098"/>
            <a:ext cx="1506599" cy="154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PROMPTING 101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4200" y="1071364"/>
            <a:ext cx="10723294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The Goldilocks Framework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734200" y="1738809"/>
            <a:ext cx="11332879" cy="241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Generic prompts yield generic results. This three-step structure — not too vague, not too specific — delivers exactly what you need, every time.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76548" y="2131516"/>
            <a:ext cx="5038500" cy="299045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083424" y="4441721"/>
            <a:ext cx="1252462" cy="214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Constraints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504979" y="4441721"/>
            <a:ext cx="1252462" cy="214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Task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900799" y="4441721"/>
            <a:ext cx="1252461" cy="214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Context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34200" y="5272980"/>
            <a:ext cx="10723294" cy="822127"/>
          </a:xfrm>
          <a:prstGeom prst="roundRect">
            <a:avLst>
              <a:gd name="adj" fmla="val 30623"/>
            </a:avLst>
          </a:prstGeom>
          <a:solidFill>
            <a:srgbClr val="00805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975" y="5467350"/>
            <a:ext cx="209743" cy="16777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79493" y="5449094"/>
            <a:ext cx="10010227" cy="483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Rule: Garbage In = Garbage Out.</a:t>
            </a:r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Be specific about who the AI is, what it should do, and what rules it must follow. Precision is the superpower.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4200" y="721320"/>
            <a:ext cx="1045541" cy="223143"/>
          </a:xfrm>
          <a:prstGeom prst="roundRect">
            <a:avLst>
              <a:gd name="adj" fmla="val 49999"/>
            </a:avLst>
          </a:prstGeom>
          <a:noFill/>
          <a:ln w="12700">
            <a:solidFill>
              <a:srgbClr val="16FFB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304" y="765373"/>
            <a:ext cx="1478918" cy="13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16FFB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RESPONSIBLE AI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4200" y="985540"/>
            <a:ext cx="10723294" cy="407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Novatech's Zero-Trust AI Proxy</a:t>
            </a:r>
            <a:endParaRPr lang="en-US" sz="2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0890" y="1663204"/>
            <a:ext cx="4791253" cy="271502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43453" y="2721273"/>
            <a:ext cx="3520292" cy="598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Security is our </a:t>
            </a:r>
            <a:pPr algn="l" indent="0" marL="0">
              <a:lnSpc>
                <a:spcPct val="113000"/>
              </a:lnSpc>
              <a:buNone/>
            </a:pPr>
            <a:r>
              <a:rPr lang="en-US" sz="11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#1 priority.</a:t>
            </a:r>
            <a:pPr algn="l" indent="0" marL="0">
              <a:lnSpc>
                <a:spcPct val="113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Our reverse-proxy wall ensures zero data leaks — no client data, no employee PII, no proprietary code ever leaves our network.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34200" y="4609405"/>
            <a:ext cx="3505906" cy="1527274"/>
          </a:xfrm>
          <a:prstGeom prst="roundRect">
            <a:avLst>
              <a:gd name="adj" fmla="val 14424"/>
            </a:avLst>
          </a:prstGeom>
          <a:solidFill>
            <a:srgbClr val="0A081B"/>
          </a:solidFill>
          <a:ln w="12700">
            <a:solidFill>
              <a:srgbClr val="16FFB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93740" y="4768949"/>
            <a:ext cx="440520" cy="440531"/>
          </a:xfrm>
          <a:prstGeom prst="ellipse">
            <a:avLst/>
          </a:prstGeom>
          <a:solidFill>
            <a:srgbClr val="16FFB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4883" y="4889996"/>
            <a:ext cx="198234" cy="19823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93740" y="5312271"/>
            <a:ext cx="3186827" cy="203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PII Scanning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893740" y="5577880"/>
            <a:ext cx="3186827" cy="399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Names, Aadhaar numbers, and phone numbers are detected and blocked before processing.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342894" y="4609405"/>
            <a:ext cx="3505906" cy="1527274"/>
          </a:xfrm>
          <a:prstGeom prst="roundRect">
            <a:avLst>
              <a:gd name="adj" fmla="val 14424"/>
            </a:avLst>
          </a:prstGeom>
          <a:solidFill>
            <a:srgbClr val="0A081B"/>
          </a:solidFill>
          <a:ln w="12700">
            <a:solidFill>
              <a:srgbClr val="29DDDA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502434" y="4768949"/>
            <a:ext cx="440520" cy="440531"/>
          </a:xfrm>
          <a:prstGeom prst="ellipse">
            <a:avLst/>
          </a:prstGeom>
          <a:solidFill>
            <a:srgbClr val="29DDDA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23577" y="4889996"/>
            <a:ext cx="198234" cy="19823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502434" y="5312271"/>
            <a:ext cx="3186827" cy="203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Auto-Redaction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4502434" y="5577880"/>
            <a:ext cx="3186827" cy="399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Sensitive data is stripped automatically before any request leaves our infrastructure.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7951589" y="4609405"/>
            <a:ext cx="3505906" cy="1527274"/>
          </a:xfrm>
          <a:prstGeom prst="roundRect">
            <a:avLst>
              <a:gd name="adj" fmla="val 14424"/>
            </a:avLst>
          </a:prstGeom>
          <a:solidFill>
            <a:srgbClr val="0A081B"/>
          </a:solidFill>
          <a:ln w="12700">
            <a:solidFill>
              <a:srgbClr val="37A7E7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8111128" y="4768949"/>
            <a:ext cx="440520" cy="440531"/>
          </a:xfrm>
          <a:prstGeom prst="ellipse">
            <a:avLst/>
          </a:prstGeom>
          <a:solidFill>
            <a:srgbClr val="37A7E7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32271" y="4889996"/>
            <a:ext cx="198234" cy="198239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111128" y="5312271"/>
            <a:ext cx="3186827" cy="203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100% Audit Trail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8111128" y="5577880"/>
            <a:ext cx="3186827" cy="399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Every interaction is logged. Nothing outside Novatech sees your code or customer data.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4200" y="954881"/>
            <a:ext cx="1851872" cy="318790"/>
          </a:xfrm>
          <a:prstGeom prst="roundRect">
            <a:avLst>
              <a:gd name="adj" fmla="val 49999"/>
            </a:avLst>
          </a:prstGeom>
          <a:solidFill>
            <a:srgbClr val="004D36"/>
          </a:solidFill>
          <a:ln/>
        </p:spPr>
      </p:sp>
      <p:sp>
        <p:nvSpPr>
          <p:cNvPr id="3" name="Text 1"/>
          <p:cNvSpPr/>
          <p:nvPr/>
        </p:nvSpPr>
        <p:spPr>
          <a:xfrm>
            <a:off x="860007" y="1017786"/>
            <a:ext cx="2209844" cy="192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WHAT'S IN IT FOR YOU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4200" y="1357511"/>
            <a:ext cx="10723294" cy="582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Your Role, Mapped to Your Gain</a:t>
            </a:r>
            <a:endParaRPr lang="en-US" sz="3650" dirty="0"/>
          </a:p>
        </p:txBody>
      </p:sp>
      <p:sp>
        <p:nvSpPr>
          <p:cNvPr id="5" name="Text 3"/>
          <p:cNvSpPr/>
          <p:nvPr/>
        </p:nvSpPr>
        <p:spPr>
          <a:xfrm>
            <a:off x="734200" y="2254845"/>
            <a:ext cx="11332879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Wave 1 initiatives — built for your specific workflow, not a generic template.</a:t>
            </a:r>
            <a:endParaRPr lang="en-US" sz="16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4200" y="2826544"/>
          <a:ext cx="9143771" cy="914400"/>
        </p:xfrm>
        <a:graphic>
          <a:graphicData uri="http://schemas.openxmlformats.org/drawingml/2006/table">
            <a:tbl>
              <a:tblPr/>
              <a:tblGrid>
                <a:gridCol w="2359125"/>
                <a:gridCol w="4503784"/>
                <a:gridCol w="3860386"/>
              </a:tblGrid>
              <a:tr h="6064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E0E4E6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Your Role</a:t>
                      </a:r>
                      <a:endParaRPr lang="en-US" sz="165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209800" marR="209800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E0E4E6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AI Does This</a:t>
                      </a:r>
                      <a:endParaRPr lang="en-US" sz="165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209800" marR="209800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E0E4E6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You Get This</a:t>
                      </a:r>
                      <a:endParaRPr lang="en-US" sz="165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209800" marR="209800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612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E0E4E6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Software Engineer</a:t>
                      </a:r>
                      <a:endParaRPr lang="en-US" sz="165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209800" marR="209800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E0E4E6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Writes Playwright test scripts automatically</a:t>
                      </a:r>
                      <a:endParaRPr lang="en-US" sz="165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209800" marR="209800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6FFBB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14 hrs/week</a:t>
                      </a:r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E0E4E6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 for new features</a:t>
                      </a:r>
                      <a:endParaRPr lang="en-US" sz="165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209800" marR="209800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612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E0E4E6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Finance Lead</a:t>
                      </a:r>
                      <a:endParaRPr lang="en-US" sz="165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209800" marR="209800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E0E4E6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Extracts 15 invoice fields instantly</a:t>
                      </a:r>
                      <a:endParaRPr lang="en-US" sz="165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209800" marR="209800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6FFBB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Close books 6 days faster</a:t>
                      </a:r>
                      <a:endParaRPr lang="en-US" sz="165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209800" marR="209800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612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E0E4E6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Sales Rep</a:t>
                      </a:r>
                      <a:endParaRPr lang="en-US" sz="165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209800" marR="209800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E0E4E6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Drafts technical RFP responses</a:t>
                      </a:r>
                      <a:endParaRPr lang="en-US" sz="165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209800" marR="209800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6FFBB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Win 22% more deals</a:t>
                      </a:r>
                      <a:endParaRPr lang="en-US" sz="165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209800" marR="209800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6064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E0E4E6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PMO Manager</a:t>
                      </a:r>
                      <a:endParaRPr lang="en-US" sz="165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209800" marR="209800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E0E4E6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Aggregates Jira/Slack status updates</a:t>
                      </a:r>
                      <a:endParaRPr lang="en-US" sz="165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209800" marR="209800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6FFBB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8 hrs/week freed up</a:t>
                      </a:r>
                      <a:endParaRPr lang="en-US" sz="165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209800" marR="209800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306086" y="755551"/>
            <a:ext cx="1127097" cy="254893"/>
          </a:xfrm>
          <a:prstGeom prst="roundRect">
            <a:avLst>
              <a:gd name="adj" fmla="val 49999"/>
            </a:avLst>
          </a:prstGeom>
          <a:solidFill>
            <a:srgbClr val="004D36"/>
          </a:solidFill>
          <a:ln/>
        </p:spPr>
      </p:sp>
      <p:sp>
        <p:nvSpPr>
          <p:cNvPr id="4" name="Text 1"/>
          <p:cNvSpPr/>
          <p:nvPr/>
        </p:nvSpPr>
        <p:spPr>
          <a:xfrm>
            <a:off x="5406691" y="805855"/>
            <a:ext cx="1535471" cy="154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YOUR JOURNEY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306086" y="1064121"/>
            <a:ext cx="6151409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The 3-Track Roadmap</a:t>
            </a:r>
            <a:endParaRPr lang="en-US" sz="29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6086" y="1731566"/>
            <a:ext cx="839171" cy="113258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79497" y="1899345"/>
            <a:ext cx="5177998" cy="233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Track 1 — Today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6279497" y="2212975"/>
            <a:ext cx="5177998" cy="483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Demystification.</a:t>
            </a:r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You are here. Understanding the "what" and the "why" behind AI at Novatech.</a:t>
            </a:r>
            <a:endParaRPr lang="en-US" sz="13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6086" y="2864148"/>
            <a:ext cx="839171" cy="113258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79497" y="3031927"/>
            <a:ext cx="5177998" cy="233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Track 2 — Coming Next</a:t>
            </a:r>
            <a:endParaRPr lang="en-US" sz="1450" dirty="0"/>
          </a:p>
        </p:txBody>
      </p:sp>
      <p:sp>
        <p:nvSpPr>
          <p:cNvPr id="11" name="Text 6"/>
          <p:cNvSpPr/>
          <p:nvPr/>
        </p:nvSpPr>
        <p:spPr>
          <a:xfrm>
            <a:off x="6279497" y="3345557"/>
            <a:ext cx="5177998" cy="483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Champions Sandbox.</a:t>
            </a:r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Hands-on with real Novatech data. Build your first automation live.</a:t>
            </a:r>
            <a:endParaRPr lang="en-US" sz="13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6086" y="3996730"/>
            <a:ext cx="839171" cy="113258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79497" y="4164509"/>
            <a:ext cx="5177998" cy="233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Your Homework</a:t>
            </a:r>
            <a:endParaRPr lang="en-US" sz="1450" dirty="0"/>
          </a:p>
        </p:txBody>
      </p:sp>
      <p:sp>
        <p:nvSpPr>
          <p:cNvPr id="14" name="Text 8"/>
          <p:cNvSpPr/>
          <p:nvPr/>
        </p:nvSpPr>
        <p:spPr>
          <a:xfrm>
            <a:off x="6279497" y="4478139"/>
            <a:ext cx="5177998" cy="483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Bring </a:t>
            </a:r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one boring, repetitive task</a:t>
            </a:r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from your daily work to the next lab. We will automate it together.</a:t>
            </a:r>
            <a:endParaRPr lang="en-US" sz="1300" dirty="0"/>
          </a:p>
        </p:txBody>
      </p:sp>
      <p:sp>
        <p:nvSpPr>
          <p:cNvPr id="15" name="Shape 9"/>
          <p:cNvSpPr/>
          <p:nvPr/>
        </p:nvSpPr>
        <p:spPr>
          <a:xfrm>
            <a:off x="5306086" y="5280323"/>
            <a:ext cx="6151409" cy="822127"/>
          </a:xfrm>
          <a:prstGeom prst="roundRect">
            <a:avLst>
              <a:gd name="adj" fmla="val 30623"/>
            </a:avLst>
          </a:prstGeom>
          <a:solidFill>
            <a:srgbClr val="00805A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3861" y="5474692"/>
            <a:ext cx="209743" cy="167779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851379" y="5456436"/>
            <a:ext cx="5438341" cy="483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We don't expect you to become AI experts today. We expect you to be </a:t>
            </a:r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curious.</a:t>
            </a:r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Bring your biggest workflow headache — and we'll fix it.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2026-09-01T09:42:03Z</dcterms:created>
  <dcterms:modified xsi:type="dcterms:W3CDTF">2026-09-01T09:42:03Z</dcterms:modified>
</cp:coreProperties>
</file>