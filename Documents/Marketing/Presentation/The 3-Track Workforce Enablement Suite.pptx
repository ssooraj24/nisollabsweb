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27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10844"/>
            <a:ext cx="10668000" cy="552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848969"/>
            <a:ext cx="1943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Client Partner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Novatech Leadership &amp;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6100" y="4848969"/>
            <a:ext cx="21050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Engagement Partner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Nisol AI Transformation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125" y="4848969"/>
            <a:ext cx="26003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Commercial Model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100% Included in Core Professional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450" y="4848969"/>
            <a:ext cx="2800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Curriculum Depth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3 Synchronized Tracks (All-Hands to Board)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94557"/>
            <a:ext cx="32194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208907"/>
            <a:ext cx="9801225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8FAFC"/>
                </a:solidFill>
                <a:latin typeface="Plus Jakarta Sans"/>
              </a:rPr>
              <a:t>The 3-Track Workforce Enablement &amp; </a:t>
            </a:r>
            <a:r>
              <a:rPr b="1" sz="3450" i="0" u="none">
                <a:solidFill>
                  <a:srgbClr val="F8FAFC"/>
                </a:solidFill>
                <a:latin typeface="Plus Jakarta Sans"/>
              </a:rPr>
              <a:t>Change Adoption</a:t>
            </a:r>
            <a:r>
              <a:rPr b="1" sz="3450" i="0" u="none">
                <a:solidFill>
                  <a:srgbClr val="F8FAFC"/>
                </a:solidFill>
                <a:latin typeface="Plus Jakarta Sans"/>
              </a:rPr>
              <a:t>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06973"/>
            <a:ext cx="8382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 structured, competency-building engine embedded directly into the transformation engagement to accelerate AI fluency, eliminate displacement fears, and deliver permanent operational ROI for Novatech.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2256"/>
            <a:ext cx="2719387" cy="21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6007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Adoption &amp; Enablement Philosophy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1295400"/>
            <a:ext cx="54619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3164681"/>
            <a:ext cx="56007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Competency-Building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498056"/>
            <a:ext cx="5334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Technology transformations fail when change management is treated as an afterthought. Nisol AI rejects passive slide webinars in favor of hands-on, contextualized literacy.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95775"/>
            <a:ext cx="5334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Our 3-Track Curriculum runs parallel to technology deployment waves, addressing psychological friction, cultivating super-users, and empowering executive governance simultaneously.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864643"/>
            <a:ext cx="11906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3641"/>
            <a:ext cx="3530649" cy="39888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753641"/>
            <a:ext cx="3530649" cy="39888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753641"/>
            <a:ext cx="3530649" cy="39888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01366"/>
            <a:ext cx="1776412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01366"/>
            <a:ext cx="2043112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01366"/>
            <a:ext cx="1885950" cy="2190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1024" y="37290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991766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2953791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AI Readiness &amp; Demystification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287166"/>
            <a:ext cx="3054399" cy="19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b="1" sz="1012" i="0" u="none">
                <a:solidFill>
                  <a:srgbClr val="64748B"/>
                </a:solidFill>
                <a:latin typeface="Inter"/>
              </a:rPr>
              <a:t>Target:</a:t>
            </a:r>
            <a:r>
              <a:rPr b="0" sz="1012" i="0" u="none">
                <a:solidFill>
                  <a:srgbClr val="64748B"/>
                </a:solidFill>
                <a:latin typeface="Inter"/>
              </a:rPr>
              <a:t> All Novatech Employees (Company-wide)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0274" y="37290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874" y="1991766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68874" y="2953791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The New Way of 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287166"/>
            <a:ext cx="3054399" cy="39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b="1" sz="1012" i="0" u="none">
                <a:solidFill>
                  <a:srgbClr val="64748B"/>
                </a:solidFill>
                <a:latin typeface="Inter"/>
              </a:rPr>
              <a:t>Target:</a:t>
            </a:r>
            <a:r>
              <a:rPr b="0" sz="1012" i="0" u="none">
                <a:solidFill>
                  <a:srgbClr val="64748B"/>
                </a:solidFill>
                <a:latin typeface="Inter"/>
              </a:rPr>
              <a:t> 40–50 Department Champions across Functions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9523" y="37290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8124" y="1991766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8124" y="2953791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Leading AI Teams &amp;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3287166"/>
            <a:ext cx="3054399" cy="39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b="1" sz="1012" i="0" u="none">
                <a:solidFill>
                  <a:srgbClr val="64748B"/>
                </a:solidFill>
                <a:latin typeface="Inter"/>
              </a:rPr>
              <a:t>Target:</a:t>
            </a:r>
            <a:r>
              <a:rPr b="0" sz="1012" i="0" u="none">
                <a:solidFill>
                  <a:srgbClr val="64748B"/>
                </a:solidFill>
                <a:latin typeface="Inter"/>
              </a:rPr>
              <a:t> Executives, CTO, CFO, CMO, VP Sales, VPs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2115591"/>
            <a:ext cx="266700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075" y="3695997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2 x 90-minute live interactive all-hands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4144863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Core AI demystification &amp; function-specific impacts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4593728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Responsible AI, ethics, and hallucination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" y="5042594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Transparent Q&amp;A addressing displacement fears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4124" y="2115591"/>
            <a:ext cx="26670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40324" y="3895278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4 x 2-hour hands-on sandbox labs (capped at 15/cohort)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0324" y="4344144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Function-specific prompt engineering &amp;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0324" y="4793009"/>
            <a:ext cx="2882949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Enterprise RAG knowledge hub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24" y="5055542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Human-in-the-loop validation &amp; fallback protocols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66236" y="2115591"/>
            <a:ext cx="180975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99574" y="3895278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1 x Half-day in-person or virtual leadership seminar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9574" y="4344144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Workforce reallocation: "Manual doers" to "Supervisors"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9574" y="4793009"/>
            <a:ext cx="2882949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Managing grief cycles and cultural resistance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9574" y="5055542"/>
            <a:ext cx="288294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Model governance dashboards &amp; Wave ROI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3686472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4135338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58420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5033069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6974" y="388575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6974" y="4334619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6974" y="4783484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6974" y="504601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224" y="388575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224" y="4334619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224" y="4783484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224" y="504601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3-Track Enablement Architecture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0984"/>
            <a:ext cx="5353050" cy="31742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160984"/>
            <a:ext cx="5353050" cy="31742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61021"/>
            <a:ext cx="231457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461021"/>
            <a:ext cx="248602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813446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Broad Literacy &amp; Psychological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46821"/>
            <a:ext cx="47625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Designed for 100% of Novatech personnel across Engineering, Sales, Finance, Operations, and Customer Support to establish a common enterprise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813446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Direct Answers &amp; Measurable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146821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Directly tackles the critical question: </a:t>
            </a:r>
            <a:r>
              <a:rPr b="0" sz="1125" i="1" u="none">
                <a:solidFill>
                  <a:srgbClr val="475569"/>
                </a:solidFill>
                <a:latin typeface="Inter"/>
              </a:rPr>
              <a:t>"Will AI replace my job?"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with total transparency regarding workflow evolution.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513409"/>
            <a:ext cx="14763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92668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925490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Format: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2 x 90-minute all-hands virtual live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22433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223146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Flexibility: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Recorded with interactive transcripts for on-demand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743450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742259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Hands-on: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Practical primer on structured prompt drafting.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2513409"/>
            <a:ext cx="119062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7025" y="3705225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704034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Responsible AI: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Ethics, security parameters, and hallucinations.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400288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4001690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Workflow Impact: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Department-specific use case exposure.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300537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299346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Measurable Outcome: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Baseline enterprise AI awareness increases from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 → 60%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in 3 instructional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Track 1: AI Readiness &amp; Demystification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1914525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747837"/>
            <a:ext cx="535305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05025"/>
            <a:ext cx="56207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Building Department Super-Users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57450"/>
            <a:ext cx="5353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Focused on 40–50 selected Subject Matter Experts (SMEs) across Sales, Finance, Ops, and Engineering to build self-sustaining internal champions.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804987"/>
            <a:ext cx="147637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03490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33712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Lab Structure: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4 x 2-hour intensive sandbox labs capped at 15 attendees for deep personalization.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7815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76625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Applied Prompting: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Department workflows (e.g., automated RFP generation, invoice data extraction).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20728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919537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Human-in-the-Loop: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Precise frameworks for when to trust AI outputs vs. when to intervene and override.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63640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362450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Enterprise RAG: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Real-time querying across internal policies and historical knowledge 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0655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805362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Outcome: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Super-users reach operational mastery in 8 hours and act as frontline peer mentors.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757362"/>
            <a:ext cx="5334000" cy="398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Track 2: The New Way of Working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0256"/>
            <a:ext cx="5353050" cy="3395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50256"/>
            <a:ext cx="5353050" cy="33956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350293"/>
            <a:ext cx="2605087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350293"/>
            <a:ext cx="2614612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702718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Strategic Workforce Reallocation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36093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 dedicated half-day seminar facilitated by a Nisol AI Senior Partner for the C-Suite and Department Heads (CTO, CFO, CMO, VP Sales).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702718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Model Oversight &amp; Direct ROI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036093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Equips business unit leaders to own the business outcomes, risk controls, and financial returns of the AI transformation.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402681"/>
            <a:ext cx="10953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594496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93306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Role Elevation: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Transitioning direct reports from "manual task executioners" to strategic "AI supervisors."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113609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112418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Performance Metrology: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Redefining KPIs and performance management for AI-augmented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63272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631531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Change Psychology: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Actively guiding teams through grief cycles and change friction.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2402681"/>
            <a:ext cx="119062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7025" y="3594496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593306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Health Dashboards: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Interpreting drift, latency, hallucination rates, and intervention triggers.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4113609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4112418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Wave ROI Tracking: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Quantifying hours saved, cycle-time reductions, and revenue impact.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63272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631531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Measurable Outcome: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Leaders gain sovereign governance capability—owning ROI, not just software licenses.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Track 3: Leading AI Teams &amp; Governance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8568"/>
            <a:ext cx="11049000" cy="325888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28093"/>
          <a:ext cx="11029947" cy="3239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85367"/>
                <a:gridCol w="2426493"/>
                <a:gridCol w="2205930"/>
                <a:gridCol w="2426493"/>
                <a:gridCol w="1985664"/>
              </a:tblGrid>
              <a:tr h="80995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Track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Target Audience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Format &amp; Duration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Core Curriculum Modules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Measurable Exit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0995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Track 1:</a:t>
                      </a:r>
                      <a:r>
                        <a:t>
</a:t>
                      </a:r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
          Readiness &amp; Demystification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All Employees (Company-wide across all depts)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2 x 90-min Live Virtual Sessions (Recorded on-demand)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GenAI fundamentals, ethics, hallucination guards, job security Q&amp;A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59669"/>
                          </a:solidFill>
                          <a:latin typeface="Inter"/>
                        </a:rPr>
                        <a:t>Awareness: 0 → 60%</a:t>
                      </a:r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 within 3 total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995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Track 2:</a:t>
                      </a:r>
                      <a:r>
                        <a:t>
</a:t>
                      </a:r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
          The New Way of Working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40–50 Department Super-Users &amp; Champions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4 x 2-hr Hands-on Sandbox Labs (Cap: 15/cohort)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Applied prompt workflows, RAG hub search, human-in-the-loop protocols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59669"/>
                          </a:solidFill>
                          <a:latin typeface="Inter"/>
                        </a:rPr>
                        <a:t>Full Proficiency</a:t>
                      </a:r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 in 8 hours; active peer mentoring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09962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Track 3:</a:t>
                      </a:r>
                      <a:r>
                        <a:t>
</a:t>
                      </a:r>
                      <a:r>
                        <a:rPr b="1" sz="1012" i="0" u="none">
                          <a:solidFill>
                            <a:srgbClr val="475569"/>
                          </a:solidFill>
                          <a:latin typeface="Inter"/>
                        </a:rPr>
                        <a:t>
          Leading AI Teams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C-Suite, VPs &amp; Heads (CTO, CFO, CMO, Sales)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1 x Half-Day Seminar (Nisol AI Partner-led)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Workforce reallocation, change friction, model dashboards, Wave ROI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59669"/>
                          </a:solidFill>
                          <a:latin typeface="Inter"/>
                        </a:rPr>
                        <a:t>100% Governance</a:t>
                      </a:r>
                      <a:r>
                        <a:rPr b="0" sz="1012" i="0" u="none">
                          <a:solidFill>
                            <a:srgbClr val="475569"/>
                          </a:solidFill>
                          <a:latin typeface="Inter"/>
                        </a:rPr>
                        <a:t> &amp; ROI ownership by business leaders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783830"/>
            <a:ext cx="198536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6392" y="2783830"/>
            <a:ext cx="242649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92885" y="2783830"/>
            <a:ext cx="220593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98816" y="2783830"/>
            <a:ext cx="242649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25310" y="2783830"/>
            <a:ext cx="198566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653135"/>
            <a:ext cx="1985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6392" y="3653135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2885" y="365313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8816" y="3653135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25310" y="3653135"/>
            <a:ext cx="1985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4508152"/>
            <a:ext cx="1985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6392" y="4508152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2885" y="450815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98816" y="4508152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25310" y="4508152"/>
            <a:ext cx="1985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Comprehensive 3-Track Curriculum Matrix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2541"/>
            <a:ext cx="3530500" cy="20709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712541"/>
            <a:ext cx="3530649" cy="20709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712541"/>
            <a:ext cx="3530500" cy="2070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3337" y="3007816"/>
            <a:ext cx="12668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0" sz="4200" i="0" u="none">
                <a:solidFill>
                  <a:srgbClr val="2563EB"/>
                </a:solidFill>
                <a:latin typeface="Plus Jakarta Sans ExtraBold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5225" y="3636466"/>
            <a:ext cx="1543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Baseline Literacy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12691"/>
            <a:ext cx="305425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Company-wide AI comprehension shifts from zero to functional fluency in just two 90-minute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3388" y="3007816"/>
            <a:ext cx="13049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0" sz="4200" i="0" u="none">
                <a:solidFill>
                  <a:srgbClr val="7C3AED"/>
                </a:solidFill>
                <a:latin typeface="Plus Jakarta Sans ExtraBold"/>
              </a:rPr>
              <a:t>8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601" y="3636466"/>
            <a:ext cx="1714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 Operational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912691"/>
            <a:ext cx="3054399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40–50 champions trained across 4 sandbox cohorts, creating decentralized peer support across Novatech.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7913" y="3007816"/>
            <a:ext cx="7143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0" sz="4200" i="0" u="none">
                <a:solidFill>
                  <a:srgbClr val="059669"/>
                </a:solidFill>
                <a:latin typeface="Plus Jakarta Sans ExtraBold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4038" y="3636466"/>
            <a:ext cx="1762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Additional Add-on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912691"/>
            <a:ext cx="305425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Fully bundled into Nisol AI Professional Fees—curriculum, facilitators, and lab environments included.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Measurable Adoption &amp; Commercial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2128837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747837"/>
            <a:ext cx="535305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05025"/>
            <a:ext cx="56207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Navigating the Human Element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57450"/>
            <a:ext cx="535305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The biggest hurdle in enterprise AI adoption is not technological capability—it is human inertia and anxiety over replacement.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804987"/>
            <a:ext cx="138112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03490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33712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Proactive Psychological Safety: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We address displacement fears head-on with explicit career evolution pathways.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7815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76625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Supervisory Reorientation: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Shifting team evaluation from keystrokes and volume to critical evaluation and editorial oversight.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20728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919537"/>
            <a:ext cx="516255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Cross-Departmental Rhythms: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Ensuring leadership synchronizes AI velocity between Engineering, Operations, and GTM teams.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757362"/>
            <a:ext cx="5334000" cy="398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Executive Governance &amp; Culture Alignment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55" y="3226593"/>
            <a:ext cx="51435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35" y="3226593"/>
            <a:ext cx="514350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016" y="3226593"/>
            <a:ext cx="51435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696" y="3226593"/>
            <a:ext cx="514350" cy="5143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" y="3919537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1758" y="3893343"/>
            <a:ext cx="115014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Track 3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50518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Executive Leadership Seminar. Align C-Suite on governance, metrics, and workforce reallocation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9428" y="3893343"/>
            <a:ext cx="132016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Track 1 All-Hands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150518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Company-wide Session 1 &amp; 2. Demystify GenAI, establish ethical guidelines, and alleviate displacement fears.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7087" y="3893343"/>
            <a:ext cx="167020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Track 2 Sandbox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150518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4 Weekly cohorts for 40-50 SMEs. Deep prompt engineering, RAG integration, and fallback protocols.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4768" y="3893343"/>
            <a:ext cx="166020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Self-Sustaining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150518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Super-users lead departmental peer mentoring. Continuous model health monitoring and Wave ROI realization.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Enablement Execution &amp; Wave Timeline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0984"/>
            <a:ext cx="5353050" cy="31742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160984"/>
            <a:ext cx="5353050" cy="31742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61021"/>
            <a:ext cx="1900237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461021"/>
            <a:ext cx="261937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813446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Included in Professional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46821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Zero additional licensing or add-on service cost. Complete end-to-end enablement delivery provided by Nisol AI: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813446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Client Commitments (Page 34)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146821"/>
            <a:ext cx="47625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Critical operational prerequisites required from Novatech to ensure complete transformation success: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513409"/>
            <a:ext cx="14763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705225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704034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Expert Facilitators: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Senior transformation leaders &amp; AI engineers.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00288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001690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Bespoke Curriculum: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Tailored specifically to Novatech's stack and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52199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520803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Interactive Labs: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Secure sandbox environments with enterprise RAG access.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2513409"/>
            <a:ext cx="90487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7025" y="3705225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704034"/>
            <a:ext cx="4572000" cy="22145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Calendar Holds: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Protected time slots for Track 1, 2, and 3 cohorts.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4002881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4001690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SME Nomination: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Designating 40–50 proactive champions across depts.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521993"/>
            <a:ext cx="76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520803"/>
            <a:ext cx="4572000" cy="4429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Executive Sponsorship: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Active participation in Track 3 leadership governance.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Commercial Model &amp; Partnership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287" y="481012"/>
            <a:ext cx="1495425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488703"/>
            <a:ext cx="7620000" cy="80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5500" y="890587"/>
            <a:ext cx="8001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Questions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71637"/>
            <a:ext cx="7620000" cy="531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Transforming Novatech into an AI-fluent enterprise through structured, measurable, and human-centered enablement.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537" y="533400"/>
            <a:ext cx="119062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125" y="2822078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33675" y="2726828"/>
            <a:ext cx="202138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4155"/>
                </a:solidFill>
                <a:latin typeface="Inter SemiBold"/>
              </a:rPr>
              <a:t>Nisol AI Transformation Advisory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858" y="2822078"/>
            <a:ext cx="104775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9883" y="2726828"/>
            <a:ext cx="226025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4155"/>
                </a:solidFill>
                <a:latin typeface="Inter SemiBold"/>
              </a:rPr>
              <a:t>SME Dependency Checklist (Page 34)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4936" y="2822078"/>
            <a:ext cx="13335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53536" y="2726828"/>
            <a:ext cx="161433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4155"/>
                </a:solidFill>
                <a:latin typeface="Inter SemiBold"/>
              </a:rPr>
              <a:t>Responsible AI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499866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271391"/>
            <a:ext cx="11049000" cy="962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618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2618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24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224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2741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643038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https://smarterx.ai/hs-fs/hubfs/MAI_2664.jpg?width=4128&amp;height=2752&amp;name=MAI_2664.jpg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882503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smarterx.ai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9813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414266"/>
            <a:ext cx="995362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https://ecisolutions.imgix.net/images/Blog/ai-in-erp-business-analytics-dashboard.jpg?auto=compress%2Cformat&amp;crop=focalpoint&amp;cs=tinysrgb&amp;fit=crop&amp;fp-x=0.5&amp;fp-y=0.5&amp;fp-z=1&amp;h=642&amp;q=90&amp;w=1320&amp;s=8f2ff87c783d4056f9ba18eeea2377bc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45569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www.ecisolutions.com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7703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77332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https://cloudsecuritycpd.com/cdn/shop/files/CloudSecurityForBusinessLeadersAndExecutives.jpg?v=1787238368&amp;width=826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16797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cloudsecuritycpd.com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57150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