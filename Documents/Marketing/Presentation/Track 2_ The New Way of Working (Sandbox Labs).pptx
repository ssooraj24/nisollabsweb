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image" Target="../media/image19.png"/><Relationship Id="rId15" Type="http://schemas.openxmlformats.org/officeDocument/2006/relationships/image" Target="../media/image20.png"/><Relationship Id="rId16" Type="http://schemas.openxmlformats.org/officeDocument/2006/relationships/image" Target="../media/image21.png"/><Relationship Id="rId17" Type="http://schemas.openxmlformats.org/officeDocument/2006/relationships/image" Target="../media/image22.png"/><Relationship Id="rId18" Type="http://schemas.openxmlformats.org/officeDocument/2006/relationships/image" Target="../media/image2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4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Relationship Id="rId8" Type="http://schemas.openxmlformats.org/officeDocument/2006/relationships/image" Target="../media/image5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212877"/>
            <a:ext cx="10668000" cy="6953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4431952"/>
            <a:ext cx="2408634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Inter SemiBold"/>
              </a:rPr>
              <a:t>Target Audience</a:t>
            </a:r>
            <a:r>
              <a:rPr b="0" sz="1200" i="0" u="none">
                <a:solidFill>
                  <a:srgbClr val="FFFFFF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F1F5F9"/>
                </a:solidFill>
                <a:latin typeface="Inter Medium"/>
              </a:rPr>
              <a:t>40–50 SMEs (Sales, Finance, Ops, Eng)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51634" y="4431952"/>
            <a:ext cx="2563713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Inter SemiBold"/>
              </a:rPr>
              <a:t>Format &amp; Cohort Cap</a:t>
            </a:r>
            <a:r>
              <a:rPr b="0" sz="1200" i="0" u="none">
                <a:solidFill>
                  <a:srgbClr val="FFFFFF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F1F5F9"/>
                </a:solidFill>
                <a:latin typeface="Inter Medium"/>
              </a:rPr>
              <a:t>4 x 2-Hr Weekly Labs (Max 15 per Cohort)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6347" y="4431952"/>
            <a:ext cx="2089249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Inter SemiBold"/>
              </a:rPr>
              <a:t>Measurable Outcome</a:t>
            </a:r>
            <a:r>
              <a:rPr b="0" sz="1200" i="0" u="none">
                <a:solidFill>
                  <a:srgbClr val="FFFFFF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F1F5F9"/>
                </a:solidFill>
                <a:latin typeface="Inter Medium"/>
              </a:rPr>
              <a:t>Operational Proficiency in 8 Hours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6596" y="4431952"/>
            <a:ext cx="2463403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Inter SemiBold"/>
              </a:rPr>
              <a:t>Champion Mission</a:t>
            </a:r>
            <a:r>
              <a:rPr b="0" sz="1200" i="0" u="none">
                <a:solidFill>
                  <a:srgbClr val="FFFFFF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F1F5F9"/>
                </a:solidFill>
                <a:latin typeface="Inter Medium"/>
              </a:rPr>
              <a:t>Internal Peer Mentors &amp; Feedback Leads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949797"/>
            <a:ext cx="2676525" cy="2762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2416522"/>
            <a:ext cx="8293224" cy="4819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95"/>
              </a:lnSpc>
            </a:pPr>
            <a:r>
              <a:rPr b="1" sz="3300" i="0" u="none">
                <a:solidFill>
                  <a:srgbClr val="F8FAFC"/>
                </a:solidFill>
                <a:latin typeface="Plus Jakarta Sans"/>
              </a:rPr>
              <a:t>The New Way of Working: </a:t>
            </a:r>
            <a:r>
              <a:rPr b="1" sz="3300" i="0" u="none">
                <a:solidFill>
                  <a:srgbClr val="F8FAFC"/>
                </a:solidFill>
                <a:latin typeface="Plus Jakarta Sans"/>
              </a:rPr>
              <a:t>Sandbox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069877"/>
            <a:ext cx="85725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312" i="0" u="none">
                <a:solidFill>
                  <a:srgbClr val="CBD5E1"/>
                </a:solidFill>
                <a:latin typeface="Inter"/>
              </a:rPr>
              <a:t>An intensive, 4-week cohort-based sandbox program transforming 40–50 selected Subject Matter Experts into certified internal AI Champions, mastering function-specific prompt engineering, enterprise RAG, and Human-in-the-Loop workflows.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674143"/>
            <a:ext cx="2143125" cy="209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3400" y="457200"/>
            <a:ext cx="564070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Cohort Model &amp; Lab Philosophy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33400" y="838200"/>
            <a:ext cx="57150" cy="2476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3400" y="2997993"/>
            <a:ext cx="564070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Plus Jakarta Sans"/>
              </a:rPr>
              <a:t>Real Data, Real Problems, Zero Theory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3302793"/>
            <a:ext cx="5372100" cy="621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475569"/>
                </a:solidFill>
                <a:latin typeface="Inter"/>
              </a:rPr>
              <a:t>Mastery requires hands-on execution. Track 2 abandons generic slide walkthroughs in favor of isolated, secure enterprise sandbox environments where SMEs solve actual Novatech backlog items.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4038600"/>
            <a:ext cx="5372100" cy="621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475569"/>
                </a:solidFill>
                <a:latin typeface="Inter"/>
              </a:rPr>
              <a:t>Strictly capped at 15 attendees per session, every participant receives dedicated 1-on-1 coaching from Nisol AI senior transformation engineers across four weekly 2-hour intensive sprints.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" y="2724150"/>
            <a:ext cx="138112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82551"/>
            <a:ext cx="2619375" cy="328344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1375" y="2082551"/>
            <a:ext cx="2619375" cy="328344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2082551"/>
            <a:ext cx="2619375" cy="328344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1125" y="2082551"/>
            <a:ext cx="2619375" cy="328344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2835026"/>
            <a:ext cx="676275" cy="2095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81400" y="2835026"/>
            <a:ext cx="695325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91275" y="2835026"/>
            <a:ext cx="695325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01150" y="2835026"/>
            <a:ext cx="704850" cy="20955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81025" y="3705225"/>
            <a:ext cx="2600325" cy="38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1525" y="2301626"/>
            <a:ext cx="400050" cy="4000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525" y="3158876"/>
            <a:ext cx="233029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Plus Jakarta Sans"/>
              </a:rPr>
              <a:t>Function-Specific Prompting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525" y="3692276"/>
            <a:ext cx="22193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Tailored operational tasks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90900" y="3705225"/>
            <a:ext cx="2600325" cy="38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81400" y="2301626"/>
            <a:ext cx="400050" cy="4000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581400" y="3158876"/>
            <a:ext cx="233029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Plus Jakarta Sans"/>
              </a:rPr>
              <a:t>Enterprise RAG Navigation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1400" y="3692276"/>
            <a:ext cx="22193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Internal knowledge discovery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0775" y="3705225"/>
            <a:ext cx="2600325" cy="38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91275" y="2301626"/>
            <a:ext cx="400050" cy="4000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1275" y="3158876"/>
            <a:ext cx="233029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Plus Jakarta Sans"/>
              </a:rPr>
              <a:t>Human-in-the-Loop (HITL)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275" y="3692276"/>
            <a:ext cx="22193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Verification &amp; confidence rules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10650" y="3705225"/>
            <a:ext cx="2600325" cy="38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01150" y="2301626"/>
            <a:ext cx="400050" cy="4000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201150" y="3158876"/>
            <a:ext cx="233029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Plus Jakarta Sans"/>
              </a:rPr>
              <a:t>Fallback &amp; Escalation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01150" y="3463676"/>
            <a:ext cx="22193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Safety nets &amp; edge cases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6300" y="2406401"/>
            <a:ext cx="190500" cy="1905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23925" y="4049464"/>
            <a:ext cx="2066925" cy="1794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Deep few-shot prompt crafting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925" y="4295626"/>
            <a:ext cx="2066925" cy="358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Structured JSON &amp; markdown outputs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925" y="4721274"/>
            <a:ext cx="2066925" cy="358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Iterative chaining &amp; negative constraints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95700" y="2406401"/>
            <a:ext cx="171450" cy="1905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733800" y="4049464"/>
            <a:ext cx="2066925" cy="1794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Querying historical RFP &amp; ERP 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33800" y="4295626"/>
            <a:ext cx="2066925" cy="358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Context grounding &amp; citation tracing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33800" y="4721274"/>
            <a:ext cx="2066925" cy="1794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Semantic policy &amp; contract search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72237" y="2406401"/>
            <a:ext cx="238125" cy="1905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543675" y="4049464"/>
            <a:ext cx="2066925" cy="358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Confidence scoring &amp; trust thresholds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43675" y="4475112"/>
            <a:ext cx="2066925" cy="1794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Critical data point spot-checks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43675" y="4721274"/>
            <a:ext cx="2066925" cy="358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When to accept vs. when to override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305925" y="2406401"/>
            <a:ext cx="190500" cy="1905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353550" y="3820864"/>
            <a:ext cx="2066925" cy="358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Handling ambiguous or missing context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53550" y="4246512"/>
            <a:ext cx="2066925" cy="358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Hallucination triage &amp; manual takeover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53550" y="4672161"/>
            <a:ext cx="2066925" cy="358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Logging model gaps to central registry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0575" y="4039939"/>
            <a:ext cx="6667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125" i="0" u="none">
                <a:solidFill>
                  <a:srgbClr val="7C3AED"/>
                </a:solidFill>
                <a:latin typeface="Inter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0575" y="4286101"/>
            <a:ext cx="6667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125" i="0" u="none">
                <a:solidFill>
                  <a:srgbClr val="7C3AED"/>
                </a:solidFill>
                <a:latin typeface="Inter"/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0575" y="4711749"/>
            <a:ext cx="6667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125" i="0" u="none">
                <a:solidFill>
                  <a:srgbClr val="7C3AED"/>
                </a:solidFill>
                <a:latin typeface="Inter"/>
              </a:rPr>
              <a:t>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00450" y="4039939"/>
            <a:ext cx="6667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125" i="0" u="none">
                <a:solidFill>
                  <a:srgbClr val="7C3AED"/>
                </a:solidFill>
                <a:latin typeface="Inter"/>
              </a:rP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00450" y="4286101"/>
            <a:ext cx="6667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125" i="0" u="none">
                <a:solidFill>
                  <a:srgbClr val="7C3AED"/>
                </a:solidFill>
                <a:latin typeface="Inter"/>
              </a:rPr>
              <a:t>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00450" y="4711749"/>
            <a:ext cx="6667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125" i="0" u="none">
                <a:solidFill>
                  <a:srgbClr val="7C3AED"/>
                </a:solidFill>
                <a:latin typeface="Inter"/>
              </a:rPr>
              <a:t>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10325" y="4039939"/>
            <a:ext cx="6667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125" i="0" u="none">
                <a:solidFill>
                  <a:srgbClr val="7C3AED"/>
                </a:solidFill>
                <a:latin typeface="Inter"/>
              </a:rPr>
              <a:t>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10325" y="4465587"/>
            <a:ext cx="6667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125" i="0" u="none">
                <a:solidFill>
                  <a:srgbClr val="7C3AED"/>
                </a:solidFill>
                <a:latin typeface="Inter"/>
              </a:rPr>
              <a:t>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10325" y="4711749"/>
            <a:ext cx="6667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125" i="0" u="none">
                <a:solidFill>
                  <a:srgbClr val="7C3AED"/>
                </a:solidFill>
                <a:latin typeface="Inter"/>
              </a:rPr>
              <a:t>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20200" y="3811339"/>
            <a:ext cx="6667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125" i="0" u="none">
                <a:solidFill>
                  <a:srgbClr val="7C3AED"/>
                </a:solidFill>
                <a:latin typeface="Inter"/>
              </a:rPr>
              <a:t>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20200" y="4236987"/>
            <a:ext cx="6667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125" i="0" u="none">
                <a:solidFill>
                  <a:srgbClr val="7C3AED"/>
                </a:solidFill>
                <a:latin typeface="Inter"/>
              </a:rPr>
              <a:t>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20200" y="4662636"/>
            <a:ext cx="6667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125" i="0" u="none">
                <a:solidFill>
                  <a:srgbClr val="7C3AED"/>
                </a:solidFill>
                <a:latin typeface="Inter"/>
              </a:rPr>
              <a:t>•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1500" y="457200"/>
            <a:ext cx="11601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The 4 Core Competency Pillars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71500" y="838200"/>
            <a:ext cx="57150" cy="2476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44315"/>
            <a:ext cx="5372100" cy="315991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144315"/>
            <a:ext cx="5372100" cy="315991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2418159"/>
            <a:ext cx="1628775" cy="2095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4625" y="2418159"/>
            <a:ext cx="2290762" cy="2095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7725" y="2742009"/>
            <a:ext cx="5060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Plus Jakarta Sans"/>
              </a:rPr>
              <a:t>Automated RFP &amp; Pitch Synthesis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046809"/>
            <a:ext cx="481965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475569"/>
                </a:solidFill>
                <a:latin typeface="Inter"/>
              </a:rPr>
              <a:t>SMEs learn to rapidly compile high-win proposal collateral and prospect research while maintaining brand and security compliance: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5" y="2742009"/>
            <a:ext cx="5060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Plus Jakarta Sans"/>
              </a:rPr>
              <a:t>Invoice Extraction &amp; Reconciliation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4625" y="3046809"/>
            <a:ext cx="481965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475569"/>
                </a:solidFill>
                <a:latin typeface="Inter"/>
              </a:rPr>
              <a:t>Transforming unstructured financial documents into structured, auditable general ledger entries: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450" y="2468165"/>
            <a:ext cx="119062" cy="1095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2025" y="3574256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87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3575446"/>
            <a:ext cx="4629150" cy="414337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475569"/>
                </a:solidFill>
                <a:latin typeface="Inter"/>
              </a:rPr>
              <a:t>RAG-Assisted RFP Response: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 Pulling compliant, vetted security answers from Novatech's repository in seconds.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" y="4064793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87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8225" y="4065984"/>
            <a:ext cx="4629150" cy="414337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475569"/>
                </a:solidFill>
                <a:latin typeface="Inter"/>
              </a:rPr>
              <a:t>Executive Brief Generation: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 Synthesizing 10-K filings and account history into 1-page pre-call dossiers.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2025" y="4555331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87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225" y="4556521"/>
            <a:ext cx="4629150" cy="414337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475569"/>
                </a:solidFill>
                <a:latin typeface="Inter"/>
              </a:rPr>
              <a:t>Competitive Battlecards: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 Dynamic differentiation matrices tailored to specific competitor strengths.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0350" y="2468165"/>
            <a:ext cx="90487" cy="10953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638925" y="3574256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87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15125" y="3575446"/>
            <a:ext cx="4629150" cy="414337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475569"/>
                </a:solidFill>
                <a:latin typeface="Inter"/>
              </a:rPr>
              <a:t>Multi-Format Invoice Parsing: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 Extracting line-item quantities, tax IDs, and billing entities with 99%+ accuracy.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38925" y="4064793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87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15125" y="4065984"/>
            <a:ext cx="4629150" cy="414337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475569"/>
                </a:solidFill>
                <a:latin typeface="Inter"/>
              </a:rPr>
              <a:t>PO Discrepancy Matching: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 Automated 3-way matching flagging rate variances above configurable tolerance.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38925" y="4555331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87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15125" y="4556521"/>
            <a:ext cx="4629150" cy="414337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475569"/>
                </a:solidFill>
                <a:latin typeface="Inter"/>
              </a:rPr>
              <a:t>Variance Commentary: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 Drafting initial executive summaries on month-end departmental spend drift.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" y="457200"/>
            <a:ext cx="11601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Functional Deep Dive: Sales &amp; Finance Labs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1500" y="838200"/>
            <a:ext cx="57150" cy="2476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44315"/>
            <a:ext cx="5372100" cy="315991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144315"/>
            <a:ext cx="5372100" cy="315991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2418159"/>
            <a:ext cx="1957387" cy="2095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4625" y="2418159"/>
            <a:ext cx="2300287" cy="2095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7725" y="2742009"/>
            <a:ext cx="5060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Plus Jakarta Sans"/>
              </a:rPr>
              <a:t>Accelerated Code &amp; Test Generation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046809"/>
            <a:ext cx="481965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475569"/>
                </a:solidFill>
                <a:latin typeface="Inter"/>
              </a:rPr>
              <a:t>Engineers leverage contextual AI agents to eliminate boilerplate toil and enhance test coverage across codebases: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5" y="2742009"/>
            <a:ext cx="5060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Plus Jakarta Sans"/>
              </a:rPr>
              <a:t>Incident Triage &amp; Knowledge Deflection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4625" y="3046809"/>
            <a:ext cx="481965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475569"/>
                </a:solidFill>
                <a:latin typeface="Inter"/>
              </a:rPr>
              <a:t>Operational SMEs streamline internal workflows and expedite Tier-2/Tier-3 incident resolutions: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450" y="2468165"/>
            <a:ext cx="128587" cy="1095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2025" y="3574256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87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3575446"/>
            <a:ext cx="4629150" cy="414337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475569"/>
                </a:solidFill>
                <a:latin typeface="Inter"/>
              </a:rPr>
              <a:t>Edge-Case Unit Test Suites: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 Generating comprehensive mocks, boundary conditions, and integration test stubs.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" y="4064793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87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8225" y="4065984"/>
            <a:ext cx="4629150" cy="414337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475569"/>
                </a:solidFill>
                <a:latin typeface="Inter"/>
              </a:rPr>
              <a:t>Legacy Code Refactoring: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 Translating monolith components into modular, typed micro-services with inline docs.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2025" y="4555331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87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225" y="4556521"/>
            <a:ext cx="4629150" cy="414337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475569"/>
                </a:solidFill>
                <a:latin typeface="Inter"/>
              </a:rPr>
              <a:t>CI/CD Error Diagnostics: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 Natural language parsing of build failures and root-cause recommendations.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0350" y="2468165"/>
            <a:ext cx="138112" cy="10953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638925" y="3574256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87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15125" y="3575446"/>
            <a:ext cx="4629150" cy="414337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475569"/>
                </a:solidFill>
                <a:latin typeface="Inter"/>
              </a:rPr>
              <a:t>SOP Synthesis &amp; Search: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 Converting fragmented process documentation into instant conversational workflows.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38925" y="4064793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87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15125" y="4065984"/>
            <a:ext cx="4629150" cy="414337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475569"/>
                </a:solidFill>
                <a:latin typeface="Inter"/>
              </a:rPr>
              <a:t>Ticket Cluster Analysis: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 Grouping incoming support issues to detect emerging platform regressions.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38925" y="4555331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87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15125" y="4556521"/>
            <a:ext cx="4629150" cy="414337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475569"/>
                </a:solidFill>
                <a:latin typeface="Inter"/>
              </a:rPr>
              <a:t>Escalation Post-Mortems: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 Auto-generating incident timelines and action items from Slack/Teams threads.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" y="457200"/>
            <a:ext cx="11601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Functional Deep Dive: Engineering &amp; Ops Labs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1500" y="838200"/>
            <a:ext cx="57150" cy="2476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45443"/>
            <a:ext cx="2652712" cy="209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628775"/>
            <a:ext cx="5372100" cy="4191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969293"/>
            <a:ext cx="564070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Plus Jakarta Sans"/>
              </a:rPr>
              <a:t>Eliminating Hallucinations with Citations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293143"/>
            <a:ext cx="537210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475569"/>
                </a:solidFill>
                <a:latin typeface="Inter"/>
              </a:rPr>
              <a:t>Novatech's internal knowledge hub connects LLMs directly to verified corporate documentation, ensuring every generated output is grounded and verifiable.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25" y="1695450"/>
            <a:ext cx="138112" cy="10953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2820590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87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821781"/>
            <a:ext cx="5181600" cy="414337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475569"/>
                </a:solidFill>
                <a:latin typeface="Inter"/>
              </a:rPr>
              <a:t>Context Injection: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 Prompts automatically pull relevant policy, pricing, and architecture documents.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34928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87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236118"/>
            <a:ext cx="5181600" cy="414337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475569"/>
                </a:solidFill>
                <a:latin typeface="Inter"/>
              </a:rPr>
              <a:t>Mandatory Source Tracing: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 Outputs include direct hyperlinks and chunk references to original source files.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649265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87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3650456"/>
            <a:ext cx="5181600" cy="414337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475569"/>
                </a:solidFill>
                <a:latin typeface="Inter"/>
              </a:rPr>
              <a:t>Role-Based Data Access (RBAC):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 Confidential HR and executive documents remain strictly isolated.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63603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87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064793"/>
            <a:ext cx="5181600" cy="414337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475569"/>
                </a:solidFill>
                <a:latin typeface="Inter"/>
              </a:rPr>
              <a:t>Real-Time Synchronization: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 Dynamic re-indexing ensures updated SOPs and pricing tiers reflect immediately.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7925" y="1638300"/>
            <a:ext cx="5353050" cy="41719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71500" y="457200"/>
            <a:ext cx="11601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Enterprise RAG: Grounding AI in Novatech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" y="838200"/>
            <a:ext cx="57150" cy="2476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44315"/>
            <a:ext cx="5372100" cy="315991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144315"/>
            <a:ext cx="5372100" cy="315991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2418159"/>
            <a:ext cx="2119312" cy="2095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4625" y="2418159"/>
            <a:ext cx="2781300" cy="2095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7725" y="2742009"/>
            <a:ext cx="5060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Plus Jakarta Sans"/>
              </a:rPr>
              <a:t>Low-Risk &amp; Reversible Tasks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046809"/>
            <a:ext cx="481965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475569"/>
                </a:solidFill>
                <a:latin typeface="Inter"/>
              </a:rPr>
              <a:t>Standard operational workflows where AI confidence exceeds 90% and risk of downstream damage is minimal: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5" y="2742009"/>
            <a:ext cx="5060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Plus Jakarta Sans"/>
              </a:rPr>
              <a:t>High-Stakes &amp; External Assets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4625" y="3046809"/>
            <a:ext cx="481965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475569"/>
                </a:solidFill>
                <a:latin typeface="Inter"/>
              </a:rPr>
              <a:t>Critical customer-facing, financial, or legally binding touchpoints where human sign-off is mandatory: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450" y="2468165"/>
            <a:ext cx="119062" cy="1095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2025" y="3574256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87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3575446"/>
            <a:ext cx="4629150" cy="414337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475569"/>
                </a:solidFill>
                <a:latin typeface="Inter"/>
              </a:rPr>
              <a:t>Internal Brainstorming: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 Meeting summary drafts, email rewrites, slide structure ideation.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" y="4064793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87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8225" y="4065984"/>
            <a:ext cx="4629150" cy="414337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475569"/>
                </a:solidFill>
                <a:latin typeface="Inter"/>
              </a:rPr>
              <a:t>Standard Boilerplate: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 Repetitive unit test scaffolding and syntax transformations.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2025" y="4555331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87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225" y="4556521"/>
            <a:ext cx="4629150" cy="414337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475569"/>
                </a:solidFill>
                <a:latin typeface="Inter"/>
              </a:rPr>
              <a:t>Protocol: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 Review generated draft, perform quick 30-second sanity check, and execute.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0350" y="2468165"/>
            <a:ext cx="119062" cy="10953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638925" y="3574256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87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15125" y="3575446"/>
            <a:ext cx="4629150" cy="414337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475569"/>
                </a:solidFill>
                <a:latin typeface="Inter"/>
              </a:rPr>
              <a:t>Customer Contracts &amp; Pricing: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 Binding SLA commitments and financial agreements.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38925" y="4064793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87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15125" y="4065984"/>
            <a:ext cx="4629150" cy="414337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475569"/>
                </a:solidFill>
                <a:latin typeface="Inter"/>
              </a:rPr>
              <a:t>Production Deployment Scripts: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 Database migration queries and infrastructure configs.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38925" y="4555331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87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15125" y="4556521"/>
            <a:ext cx="4629150" cy="414337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475569"/>
                </a:solidFill>
                <a:latin typeface="Inter"/>
              </a:rPr>
              <a:t>Protocol: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 Full line-by-line verification, primary source audit, and dual SME peer sign-off.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" y="457200"/>
            <a:ext cx="11601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Human-in-the-Loop: Trust vs. Override Rules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1500" y="838200"/>
            <a:ext cx="57150" cy="2476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83618"/>
            <a:ext cx="11049000" cy="2881312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2293143"/>
          <a:ext cx="11029948" cy="28622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426493"/>
                <a:gridCol w="2867769"/>
                <a:gridCol w="3529458"/>
                <a:gridCol w="2206228"/>
              </a:tblGrid>
              <a:tr h="572452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Failure Scenario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Root Cause Indicator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Immediate Sandbox Fallback Action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Escalation Path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572452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475569"/>
                          </a:solidFill>
                          <a:latin typeface="Inter"/>
                        </a:rPr>
                        <a:t>Model Hallucination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Output references non-existent product SKU, policy, or API method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Discard response. Apply negative constraint prompt and inject explicit source chunk.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Log prompt &amp; hallucinated output to Central AI Issue Hub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2452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475569"/>
                          </a:solidFill>
                          <a:latin typeface="Inter"/>
                        </a:rPr>
                        <a:t>Low Confidence Score (&lt;80%)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Model hedging, circular phrasing, or ambiguous classifications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Execute 2-step breakdown: ask model to list assumptions, then verify step-by-step.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Flag for SME manual resolution if second pass fails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72452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475569"/>
                          </a:solidFill>
                          <a:latin typeface="Inter"/>
                        </a:rPr>
                        <a:t>Missing RAG Context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System returns generic public knowledge rather than Novatech data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Refine semantic search keywords; verify document permissions and indexing status.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Submit missing doc ticket to RAG Engineering team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2454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475569"/>
                          </a:solidFill>
                          <a:latin typeface="Inter"/>
                        </a:rPr>
                        <a:t>Data Policy Violation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Prompt triggers automated PII / confidential data guardrail block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Anonymize or tokenize sensitive fields before re-submitting query.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Inter"/>
                        </a:rPr>
                        <a:t>Notify Security &amp; Compliance Lead if repeated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2697956"/>
            <a:ext cx="2426493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007518" y="2697956"/>
            <a:ext cx="2867769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75287" y="2697956"/>
            <a:ext cx="3529458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404746" y="2697956"/>
            <a:ext cx="2206228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1025" y="3321843"/>
            <a:ext cx="242649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07518" y="3321843"/>
            <a:ext cx="28677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75287" y="3321843"/>
            <a:ext cx="35294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404746" y="3321843"/>
            <a:ext cx="22062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1025" y="3931443"/>
            <a:ext cx="242649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07518" y="3931443"/>
            <a:ext cx="28677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75287" y="3931443"/>
            <a:ext cx="35294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404746" y="3931443"/>
            <a:ext cx="22062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1025" y="4541043"/>
            <a:ext cx="242649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07518" y="4541043"/>
            <a:ext cx="28677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75287" y="4541043"/>
            <a:ext cx="35294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404746" y="4541043"/>
            <a:ext cx="22062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500" y="457200"/>
            <a:ext cx="11601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Fallback Protocols &amp; Exception Handling Matrix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838200"/>
            <a:ext cx="57150" cy="2476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97807"/>
            <a:ext cx="3530500" cy="205293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600" y="2697807"/>
            <a:ext cx="3530649" cy="205293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850" y="2697807"/>
            <a:ext cx="3530500" cy="20529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03337" y="3101875"/>
            <a:ext cx="12668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050"/>
              </a:lnSpc>
            </a:pPr>
            <a:r>
              <a:rPr b="0" sz="4050" i="0" u="none">
                <a:solidFill>
                  <a:srgbClr val="7C3AED"/>
                </a:solidFill>
                <a:latin typeface="Plus Jakarta Sans ExtraBold"/>
              </a:rPr>
              <a:t>8 Hrs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79500" y="3711475"/>
            <a:ext cx="1714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To Operational Mastery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987700"/>
            <a:ext cx="3054250" cy="358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13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4 weekly 2-hour sandbox labs transform selected SMEs into fully self-sufficient AI operators.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29076" y="3012132"/>
            <a:ext cx="17335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050"/>
              </a:lnSpc>
            </a:pPr>
            <a:r>
              <a:rPr b="0" sz="4050" i="0" u="none">
                <a:solidFill>
                  <a:srgbClr val="2563EB"/>
                </a:solidFill>
                <a:latin typeface="Plus Jakarta Sans ExtraBold"/>
              </a:rPr>
              <a:t>40–50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5763" y="3621732"/>
            <a:ext cx="14001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Trained Champions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8725" y="3897957"/>
            <a:ext cx="3054399" cy="538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13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Strategically selected across Sales, Finance, Engineering, and Operations for full functional coverage.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16900" y="3012132"/>
            <a:ext cx="16764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050"/>
              </a:lnSpc>
            </a:pPr>
            <a:r>
              <a:rPr b="0" sz="4050" i="0" u="none">
                <a:solidFill>
                  <a:srgbClr val="059669"/>
                </a:solidFill>
                <a:latin typeface="Plus Jakarta Sans ExtraBold"/>
              </a:rPr>
              <a:t>15 Max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1213" y="3621732"/>
            <a:ext cx="12477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Cohort Size Limit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7975" y="3897957"/>
            <a:ext cx="3054250" cy="538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13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Strictly capped cohort sizes ensure intimate coaching, direct code reviews, and tailored workflows.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457200"/>
            <a:ext cx="11601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Measurable Super-User Mastery &amp; Impact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838200"/>
            <a:ext cx="57150" cy="2476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9180" y="3183731"/>
            <a:ext cx="495300" cy="4953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1860" y="3183731"/>
            <a:ext cx="495300" cy="4953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4541" y="3183731"/>
            <a:ext cx="495300" cy="495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7221" y="3183731"/>
            <a:ext cx="495300" cy="4953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52500" y="3848100"/>
            <a:ext cx="10287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6735" y="3812381"/>
            <a:ext cx="152019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RAG &amp; Tooling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050506"/>
            <a:ext cx="2430660" cy="500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12"/>
              </a:lnSpc>
            </a:pPr>
            <a:r>
              <a:rPr b="0" sz="937" i="0" u="none">
                <a:solidFill>
                  <a:srgbClr val="64748B"/>
                </a:solidFill>
                <a:latin typeface="Inter"/>
              </a:rPr>
              <a:t>Isolated sandbox access, enterprise RAG hub navigation, and foundational semantic query design.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69362" y="3812381"/>
            <a:ext cx="2380297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Advanced Functional Prompting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4180" y="4050506"/>
            <a:ext cx="2430660" cy="500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12"/>
              </a:lnSpc>
            </a:pPr>
            <a:r>
              <a:rPr b="0" sz="937" i="0" u="none">
                <a:solidFill>
                  <a:srgbClr val="64748B"/>
                </a:solidFill>
                <a:latin typeface="Inter"/>
              </a:rPr>
              <a:t>Few-shot chaining, structured JSON outputs, negative constraints, and live departmental backlog tasks.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2073" y="3812381"/>
            <a:ext cx="188023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HITL &amp; Fallback Protocols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6860" y="4050506"/>
            <a:ext cx="2430660" cy="500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12"/>
              </a:lnSpc>
            </a:pPr>
            <a:r>
              <a:rPr b="0" sz="937" i="0" u="none">
                <a:solidFill>
                  <a:srgbClr val="64748B"/>
                </a:solidFill>
                <a:latin typeface="Inter"/>
              </a:rPr>
              <a:t>Trust-vs-override drills, hallucination triage, spot-check checklists, and escalation procedures.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84756" y="3812381"/>
            <a:ext cx="184023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Capstone &amp; Certification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541" y="4050506"/>
            <a:ext cx="2430660" cy="500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12"/>
              </a:lnSpc>
            </a:pPr>
            <a:r>
              <a:rPr b="0" sz="937" i="0" u="none">
                <a:solidFill>
                  <a:srgbClr val="64748B"/>
                </a:solidFill>
                <a:latin typeface="Inter"/>
              </a:rPr>
              <a:t>Live departmental workflow demonstration, peer review evaluation, and Champion badge certification.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57200"/>
            <a:ext cx="11601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The 4-Week Sandbox Cohort Roadmap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838200"/>
            <a:ext cx="57150" cy="2476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44315"/>
            <a:ext cx="5372100" cy="315991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144315"/>
            <a:ext cx="5372100" cy="315991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2418159"/>
            <a:ext cx="2438400" cy="2095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4625" y="2418159"/>
            <a:ext cx="2185987" cy="2095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7725" y="2742009"/>
            <a:ext cx="5060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Plus Jakarta Sans"/>
              </a:rPr>
              <a:t>Scaling Organic Everyday Adoption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046809"/>
            <a:ext cx="481965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475569"/>
                </a:solidFill>
                <a:latin typeface="Inter"/>
              </a:rPr>
              <a:t>Champions serve as the frontline catalysts within their native teams, ensuring transformation momentum continues long after formal labs: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5" y="2742009"/>
            <a:ext cx="50606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Plus Jakarta Sans"/>
              </a:rPr>
              <a:t>Informing Engineering &amp; Wave ROI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4625" y="3046809"/>
            <a:ext cx="481965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087" i="0" u="none">
                <a:solidFill>
                  <a:srgbClr val="475569"/>
                </a:solidFill>
                <a:latin typeface="Inter"/>
              </a:rPr>
              <a:t>Champions provide the vital feedback channel directly into Nisol AI's engineering and governance team: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450" y="2468165"/>
            <a:ext cx="138112" cy="1095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2025" y="3574256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87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3575446"/>
            <a:ext cx="4629150" cy="414337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475569"/>
                </a:solidFill>
                <a:latin typeface="Inter"/>
              </a:rPr>
              <a:t>Weekly 'Prompt Clinic' Hours: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 Hosting informal 20-minute drop-in sessions to help colleagues refine real prompts.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" y="4064793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87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8225" y="4065984"/>
            <a:ext cx="4629150" cy="414337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475569"/>
                </a:solidFill>
                <a:latin typeface="Inter"/>
              </a:rPr>
              <a:t>Departmental Best Practice Hub: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 Curating and publishing validated prompt templates in Novatech's internal wiki.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2025" y="4555331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87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225" y="4556521"/>
            <a:ext cx="4629150" cy="414337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475569"/>
                </a:solidFill>
                <a:latin typeface="Inter"/>
              </a:rPr>
              <a:t>Psychological Reassurance: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 Helping peers overcome anxiety by demonstrating real time-saving wins.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0350" y="2468165"/>
            <a:ext cx="119062" cy="10953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638925" y="3574256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87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15125" y="3575446"/>
            <a:ext cx="4629150" cy="414337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475569"/>
                </a:solidFill>
                <a:latin typeface="Inter"/>
              </a:rPr>
              <a:t>Edge-Case Telemetry: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 Flagging recurring prompt failures, indexing gaps, or tool friction to engineers.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38925" y="4064793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87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15125" y="4065984"/>
            <a:ext cx="4629150" cy="414337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475569"/>
                </a:solidFill>
                <a:latin typeface="Inter"/>
              </a:rPr>
              <a:t>Wave ROI Quantification: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 Tracking and logging actual team hours saved on key sprint milestones.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38925" y="4555331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87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15125" y="4556521"/>
            <a:ext cx="4629150" cy="414337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087" i="0" u="none">
                <a:solidFill>
                  <a:srgbClr val="475569"/>
                </a:solidFill>
                <a:latin typeface="Inter"/>
              </a:rPr>
              <a:t>Next-Gen Use Case Discovery: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 Identifying high-yield automation candidates for subsequent rollout waves.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" y="457200"/>
            <a:ext cx="11601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The Champion's Mission: Decentralized Peer Mentorship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1500" y="838200"/>
            <a:ext cx="57150" cy="2476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9218" y="473868"/>
            <a:ext cx="1833562" cy="209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7412" y="2883693"/>
            <a:ext cx="7877175" cy="590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95462" y="835818"/>
            <a:ext cx="8601075" cy="1162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F172A"/>
                </a:solidFill>
                <a:latin typeface="Plus Jakarta Sans"/>
              </a:rPr>
              <a:t>Champion Sandbox Lab Portal &amp; 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0250" y="2131218"/>
            <a:ext cx="81915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b="0" sz="1275" i="0" u="none">
                <a:solidFill>
                  <a:srgbClr val="64748B"/>
                </a:solidFill>
                <a:latin typeface="Inter"/>
              </a:rPr>
              <a:t>Empowering Novatech Subject Matter Experts with operational mastery, enterprise RAG tooling, and peer mentorship authority.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4943" y="523875"/>
            <a:ext cx="138112" cy="109537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6487" y="3114675"/>
            <a:ext cx="161925" cy="1285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33662" y="3102768"/>
            <a:ext cx="21431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12" i="0" u="none">
                <a:solidFill>
                  <a:srgbClr val="334155"/>
                </a:solidFill>
                <a:latin typeface="Inter SemiBold"/>
              </a:rPr>
              <a:t>Novatech AI Sandbox Environment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3487" y="3114675"/>
            <a:ext cx="114300" cy="12858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53037" y="3102768"/>
            <a:ext cx="21812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12" i="0" u="none">
                <a:solidFill>
                  <a:srgbClr val="334155"/>
                </a:solidFill>
                <a:latin typeface="Inter SemiBold"/>
              </a:rPr>
              <a:t>Enterprise RAG Documentation Hub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00962" y="3114675"/>
            <a:ext cx="161925" cy="12858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958137" y="3102768"/>
            <a:ext cx="18573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12" i="0" u="none">
                <a:solidFill>
                  <a:srgbClr val="334155"/>
                </a:solidFill>
                <a:latin typeface="Inter SemiBold"/>
              </a:rPr>
              <a:t>#ai-champions Slack Channel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2957512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7195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7195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100387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66875" y="3107531"/>
            <a:ext cx="9953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https://escapeplanmarketing.com/wp-content/uploads/2026/07/AI-Team-Workshop-with-Drew-Horine.webp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3340893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escapeplanmarketing.com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71912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66875" y="3879056"/>
            <a:ext cx="9953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https://assets.qlik.com/image/upload/w_1408/q_auto/qlik/glossary/dashboard-examples/seo-hero-business-intelligence-dashboard_tt52gb.webp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4112418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www.qlik.com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57200"/>
            <a:ext cx="11601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Image Sources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" y="838200"/>
            <a:ext cx="57150" cy="2476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