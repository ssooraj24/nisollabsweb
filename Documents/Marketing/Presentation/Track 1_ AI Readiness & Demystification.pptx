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79527"/>
            <a:ext cx="10668000" cy="695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298602"/>
            <a:ext cx="251177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Target Audience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All Novatech Employees (Company-Wide)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4772" y="4298602"/>
            <a:ext cx="300692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Format &amp; Duration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2 x 90-Min Live Sessions (Recorded On-Demand)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2695" y="4298602"/>
            <a:ext cx="2016621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Measurable Outcome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AI Literacy Score Lift: 0% →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0316" y="4298602"/>
            <a:ext cx="198968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Delivery Partner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 Medium"/>
              </a:rPr>
              <a:t>Nisol AI Transformation Advisory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83147"/>
            <a:ext cx="29718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549872"/>
            <a:ext cx="6441117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1" sz="3300" i="0" u="none">
                <a:solidFill>
                  <a:srgbClr val="F8FAFC"/>
                </a:solidFill>
                <a:latin typeface="Plus Jakarta Sans"/>
              </a:rPr>
              <a:t>AI Readiness &amp; </a:t>
            </a:r>
            <a:r>
              <a:rPr b="1" sz="3300" i="0" u="none">
                <a:solidFill>
                  <a:srgbClr val="F8FAFC"/>
                </a:solidFill>
                <a:latin typeface="Plus Jakarta Sans"/>
              </a:rPr>
              <a:t>Demystification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03227"/>
            <a:ext cx="8572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312" i="0" u="none">
                <a:solidFill>
                  <a:srgbClr val="94A3B8"/>
                </a:solidFill>
                <a:latin typeface="Inter"/>
              </a:rPr>
              <a:t>A foundational, interactive 2-session program designed for 100% of Novatech employees to build hands-on fluency, establish responsible AI safeguards, and replace uncertainty with operational confidence.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74143"/>
            <a:ext cx="2200275" cy="209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564070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Program Purpose &amp; Journey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34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2997993"/>
            <a:ext cx="56407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Demystifying AI for Everyone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302793"/>
            <a:ext cx="53721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Artificial Intelligence is not a replacement for human creativity and judgment—it is a cognitive multiplier designed to eliminate repetitive toil and elevate everyday problem solving.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038600"/>
            <a:ext cx="53721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Across two dedicated 90-minute live interactive sessions, every Novatech team member will gain a clear mental model of Generative AI, learn prompt engineering fundamentals, and understand company safeguards.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724150"/>
            <a:ext cx="138112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0731"/>
            <a:ext cx="5372100" cy="3367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40731"/>
            <a:ext cx="5372100" cy="3367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314575"/>
            <a:ext cx="181927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314575"/>
            <a:ext cx="2033587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638425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An Advanced Pattern &amp; Language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943225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Generative AI models are predictive pattern-recognition systems trained on vast repositories of text, code, and structured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638425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Not Infallible &amp; Not Autonomous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943225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Understanding limitations prevents misuse and ensures team members remain in sovereign control of business decisions.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364581"/>
            <a:ext cx="119062" cy="109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347067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471862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A Tireless Drafting Assistant: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Summarizes complex documents, generates code stubs, and drafts initial outlines.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961209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962400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A Natural Language Interface: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Allows you to query structured databases, knowledge bases, and API documentation in plain English.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45174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452937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A Cognitive Brainstorming Partner: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Explores scenarios, synthesizes perspectives, and accelerates ideation.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2364581"/>
            <a:ext cx="119062" cy="1095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38925" y="347067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471862"/>
            <a:ext cx="4629150" cy="621506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Not Conscious or Sentient: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Models do not have intent, understanding, or ethical beliefs—they predict the next probable token.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4168378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4169568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Not an Unquestioned Source of Truth: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Susceptible to hallucinations when context is ambiguous or data is missing.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658915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466010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Not a Human Replacement: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Requires continuous human direction, critical validation, and domain context.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Generative AI Is — And Isn't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4239"/>
            <a:ext cx="2619375" cy="34200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014239"/>
            <a:ext cx="2619375" cy="34200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014239"/>
            <a:ext cx="2619375" cy="34200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25" y="2014239"/>
            <a:ext cx="2619375" cy="342007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766714"/>
            <a:ext cx="985837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1400" y="2766714"/>
            <a:ext cx="995362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2766714"/>
            <a:ext cx="1100137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1150" y="2766714"/>
            <a:ext cx="728662" cy="209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81025" y="3705225"/>
            <a:ext cx="2600325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2233314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525" y="3090564"/>
            <a:ext cx="233029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Code &amp;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395364"/>
            <a:ext cx="2219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Accelerating development cycles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705225"/>
            <a:ext cx="2600325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1400" y="2233314"/>
            <a:ext cx="40005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81400" y="3090564"/>
            <a:ext cx="233029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RFP &amp; Prospecting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400" y="3395364"/>
            <a:ext cx="2219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Maximizing conversion velocity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0775" y="3705225"/>
            <a:ext cx="2600325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2233314"/>
            <a:ext cx="400050" cy="4000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1275" y="3090564"/>
            <a:ext cx="233029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Invoicing &amp;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275" y="3395364"/>
            <a:ext cx="22193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Eliminating operational manual friction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0650" y="3705225"/>
            <a:ext cx="2600325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1150" y="2233314"/>
            <a:ext cx="400050" cy="4000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01150" y="3090564"/>
            <a:ext cx="233029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Ticket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1150" y="3395364"/>
            <a:ext cx="2219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Elevating customer experience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487" y="2338089"/>
            <a:ext cx="238125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3925" y="3752552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Automated test case generation &amp; boilerplate drafting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" y="4178200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Legacy code refactoring and translation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" y="4603849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API documentation lookup and debugging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86175" y="2338089"/>
            <a:ext cx="190500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733800" y="3752552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Automated RFP initial response drafting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3800" y="4178200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Tailored pitch collateral &amp; customer persona 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3800" y="4603849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Meeting synthesis and CRM action extraction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9862" y="2338089"/>
            <a:ext cx="142875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43675" y="3938289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Structured invoice data extraction &amp; reconciliation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3675" y="4363938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Contract anomaly detection &amp; policy matching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3675" y="4789586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Automated variance summaries for reporting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05925" y="2338089"/>
            <a:ext cx="190500" cy="190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353550" y="3752552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Knowledge-base assisted agent responses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3550" y="4178200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Multi-lingual customer inquiry translation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3550" y="4603849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Sentiment triage and escalation routing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575" y="3743027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575" y="4168675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4594324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0450" y="3743027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00450" y="4168675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00450" y="4594324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0325" y="3928764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0325" y="4354413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0325" y="4780061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0200" y="3743027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0200" y="4168675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20200" y="4594324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Impact on Novatech's Specific Workflows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5443"/>
            <a:ext cx="1985962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628775"/>
            <a:ext cx="5372100" cy="419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69293"/>
            <a:ext cx="56407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Novatech's Golden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93143"/>
            <a:ext cx="53721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Enterprise AI requires uncompromising adherence to data privacy, intellectual property safeguards, and bias mitigation protocols.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695450"/>
            <a:ext cx="119062" cy="1095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820590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821781"/>
            <a:ext cx="518160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No Confidential Data in Public Tools: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Strictly use enterprise-approved AI sandboxes with data retention opt-outs.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34928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36118"/>
            <a:ext cx="518160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Hallucination Awareness: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Always verify factual claims, code references, and financial numbers against primary source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49265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650456"/>
            <a:ext cx="518160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Bias &amp; Fairness Check: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Evaluate AI outputs for systemic skew or unrepresentative assumptions in HR and customer facing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6360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064793"/>
            <a:ext cx="518160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Attribution &amp; Transparency: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Maintain audit trails of where AI assisted in high-stakes documentation.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1638300"/>
            <a:ext cx="5353050" cy="4171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Responsible AI, Ethics &amp; Governance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2631"/>
            <a:ext cx="5372100" cy="34432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02631"/>
            <a:ext cx="5372100" cy="3443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276475"/>
            <a:ext cx="244792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276475"/>
            <a:ext cx="1724025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600325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Crafting High-Precision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905125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Garbage in, garbage out. High-yield prompt engineering requires four structured components to guide the model's reasoning: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600325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Techniques for Reliable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905125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Simple habits that dramatically increase output relevance and reduce repetitive regeneration loops: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326481"/>
            <a:ext cx="128587" cy="109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343257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433762"/>
            <a:ext cx="4629150" cy="207168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1. Role / Persona: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087" i="1" u="none">
                <a:solidFill>
                  <a:srgbClr val="475569"/>
                </a:solidFill>
                <a:latin typeface="Inter"/>
              </a:rPr>
              <a:t>"Act as a senior B2B SaaS solutions architect..."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715940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71713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2. Context &amp; Background: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087" i="1" u="none">
                <a:solidFill>
                  <a:srgbClr val="475569"/>
                </a:solidFill>
                <a:latin typeface="Inter"/>
              </a:rPr>
              <a:t>"We are responding to an enterprise RFP with strict SOC2 requirements..."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206478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207668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3. Specific Task: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087" i="1" u="none">
                <a:solidFill>
                  <a:srgbClr val="475569"/>
                </a:solidFill>
                <a:latin typeface="Inter"/>
              </a:rPr>
              <a:t>"Draft 3 bullet points highlighting our multi-tenant isolation model..."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697015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469820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4. Format &amp; Constraints: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087" i="1" u="none">
                <a:solidFill>
                  <a:srgbClr val="475569"/>
                </a:solidFill>
                <a:latin typeface="Inter"/>
              </a:rPr>
              <a:t>"Use active voice, under 150 words, in markdown table format."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2326481"/>
            <a:ext cx="119062" cy="1095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38925" y="343257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3433762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Provide Few-Shot Examples: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Give 1–2 examples of ideal past answers to establish the tone and schema.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3923109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3924300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Assign Negative Constraints: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Explicitly state what NOT to include (e.g., </a:t>
            </a:r>
            <a:r>
              <a:rPr b="0" sz="1087" i="1" u="none">
                <a:solidFill>
                  <a:srgbClr val="475569"/>
                </a:solidFill>
                <a:latin typeface="Inter"/>
              </a:rPr>
              <a:t>"Do not use generic buzzwords or jargon."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925" y="441364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5125" y="4414837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Chain of Thought: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Ask the model to </a:t>
            </a:r>
            <a:r>
              <a:rPr b="0" sz="1087" i="1" u="none">
                <a:solidFill>
                  <a:srgbClr val="475569"/>
                </a:solidFill>
                <a:latin typeface="Inter"/>
              </a:rPr>
              <a:t>"Think step-by-step before producing the final response."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Hands-On Primer: Anatomy of a Great Prompt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8395"/>
            <a:ext cx="11049000" cy="455175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457920"/>
          <a:ext cx="11029949" cy="4532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85367"/>
                <a:gridCol w="2205930"/>
                <a:gridCol w="4853136"/>
                <a:gridCol w="1985516"/>
              </a:tblGrid>
              <a:tr h="906541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Workflow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Objective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Effective Prompt Template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Expected Output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906541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Sales &amp; GTM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RFP Executive Summary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"Act as a Proposal Director. Synthesize our attached 5 key security strengths into a compelling 200-word opening summary for a healthcare client." </a:t>
                      </a:r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Role: Proposal Director | Focus: Healthcare Compliance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Tailored, client-aligned executive summary in &lt;15 seconds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6541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Finance &amp; Ops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Invoice Discrepancy Note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"Review the attached PO and vendor invoice data. Highlight line-item quantity variances exceeding 5% in a structured markdown comparison table." </a:t>
                      </a:r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Task: Reconcile PO vs. Invoice | Format: Markdown 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Clean reconciliation table flagging audit exceptions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906541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Unit Test Generation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"Act as a Python QA Engineer. Write pytest unit test cases covering edge cases (empty payload, timeout, null fields) for the attached auth function." </a:t>
                      </a:r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Role: QA Engineer | Constraints: pytest, cover edge cases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Comprehensive unit test suite ready for code review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654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Complex Ticket Resolution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"Using Novatech's internal knowledge base guidelines, draft a empathetic, 3-step troubleshooting response for a user experiencing OAuth login failure." </a:t>
                      </a:r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Tone: Empathetic &amp; Professional | Output: 3 Actionable Steps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Polished, accurate customer response draft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1862732"/>
            <a:ext cx="198536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6392" y="1862732"/>
            <a:ext cx="220593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72322" y="1862732"/>
            <a:ext cx="485313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25458" y="1862732"/>
            <a:ext cx="198551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811363"/>
            <a:ext cx="1985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6392" y="2811363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72322" y="2811363"/>
            <a:ext cx="4853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25458" y="2811363"/>
            <a:ext cx="19855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931443"/>
            <a:ext cx="1985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6392" y="3931443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72322" y="3931443"/>
            <a:ext cx="4853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5458" y="3931443"/>
            <a:ext cx="19855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865786"/>
            <a:ext cx="1985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6392" y="4865786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72322" y="4865786"/>
            <a:ext cx="4853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25458" y="4865786"/>
            <a:ext cx="19855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722" y="2415182"/>
            <a:ext cx="4548336" cy="28664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722" y="3535263"/>
            <a:ext cx="4548336" cy="28664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722" y="4469606"/>
            <a:ext cx="4548336" cy="28664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4722" y="5589686"/>
            <a:ext cx="4548336" cy="28664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Practical Prompt Templates by Function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7807"/>
            <a:ext cx="3530500" cy="20529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697807"/>
            <a:ext cx="3530649" cy="20529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697807"/>
            <a:ext cx="3530500" cy="2052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8100" y="3012132"/>
            <a:ext cx="125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4050" i="0" u="none">
                <a:solidFill>
                  <a:srgbClr val="2563EB"/>
                </a:solidFill>
                <a:latin typeface="Plus Jakarta Sans ExtraBold"/>
              </a:rPr>
              <a:t>3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025" y="3621732"/>
            <a:ext cx="1695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Total Instructional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897957"/>
            <a:ext cx="305425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2 high-impact 90-minute live sessions designed for maximum engagement and zero productivity disruption.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8088" y="3012132"/>
            <a:ext cx="22955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4050" i="0" u="none">
                <a:solidFill>
                  <a:srgbClr val="7C3AED"/>
                </a:solidFill>
                <a:latin typeface="Plus Jakarta Sans ExtraBold"/>
              </a:rPr>
              <a:t>0 → 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601" y="3621732"/>
            <a:ext cx="1714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Baseline AI Literacy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725" y="3897957"/>
            <a:ext cx="3054399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Company-wide measurement shifting from zero baseline awareness to verified functional everyday fluency.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2150" y="3012132"/>
            <a:ext cx="1485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4050" i="0" u="none">
                <a:solidFill>
                  <a:srgbClr val="059669"/>
                </a:solidFill>
                <a:latin typeface="Plus Jakarta Sans ExtraBold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3575" y="3621732"/>
            <a:ext cx="15430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Workforce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975" y="3897957"/>
            <a:ext cx="305425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Live interactive attendance combined with on-demand recorded access and knowledge assessments.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Measurable Literacy Lift &amp;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0731"/>
            <a:ext cx="5372100" cy="3367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40731"/>
            <a:ext cx="5372100" cy="3367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314575"/>
            <a:ext cx="1995487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314575"/>
            <a:ext cx="194310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638425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AI Replaces Tasks, Not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943225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Technology shifts historically automate mundane, repetitive tasks while increasing demand for strategic oversight and problem solving.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638425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New High-Value Superpowers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943225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How your daily workflow transforms as you embrace enterprise AI tooling: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364581"/>
            <a:ext cx="138112" cy="109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347067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471862"/>
            <a:ext cx="4629150" cy="621506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From Manual Doer to Strategic Pilot: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You spend less time formatting tables or searching file trees, and more time making high-value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168378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169568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The True Competitive Edge: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087" i="1" u="none">
                <a:solidFill>
                  <a:srgbClr val="475569"/>
                </a:solidFill>
                <a:latin typeface="Inter"/>
              </a:rPr>
              <a:t>"AI won't replace you—but a person effectively using AI might."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658915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66010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Novatech's Re-skilling Commitment: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This enablement suite is explicitly designed to future-proof your career and toolkit.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2364581"/>
            <a:ext cx="128587" cy="1095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38925" y="347067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471862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10x Faster First Drafts: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Eliminate blank-page syndrome and focus your energy on refining and polishing.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3961209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3962400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Cross-Disciplinary Capability: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Non-engineers can automate scripts; engineers can draft executive summaries.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45174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4452937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Elevation of Human Judgment: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Emotional intelligence, client empathy, and strategic ethics remain uniquely human.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Addressing the Big Question: "Will AI Replace My Job?"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180" y="3183731"/>
            <a:ext cx="495300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860" y="3183731"/>
            <a:ext cx="495300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541" y="3183731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7221" y="3183731"/>
            <a:ext cx="495300" cy="495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2500" y="3848100"/>
            <a:ext cx="10287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694" y="3812381"/>
            <a:ext cx="218027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Foundations &amp; Mental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050506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What GenAI is &amp; isn't, enterprise LLM fundamentals, and Novatech's strategic AI roadmap.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423" y="3812381"/>
            <a:ext cx="14001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Guardrails &amp; Ethics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4180" y="4050506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Data privacy, hallucination detection, intellectual property safeguards, and safe usage guidelines.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7087" y="3812381"/>
            <a:ext cx="1670208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Hands-On Prompt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860" y="4050506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Live interactive prompt building, few-shot examples, and department-specific workflow use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4758" y="3812381"/>
            <a:ext cx="182022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Open Q&amp;A &amp; Action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541" y="4050506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Transparent discussion on job evolution, next-step resources, and Track 2 SME nominations.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2-Session Curriculum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4315"/>
            <a:ext cx="5372100" cy="31599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4315"/>
            <a:ext cx="5372100" cy="31599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418159"/>
            <a:ext cx="2424112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418159"/>
            <a:ext cx="1985962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Flexible Multi-Modal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We ensure 100% schedule flexibility for global and shift-based teams across all business units: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Take-Home Prompt Cheat-Sheets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Immediate collateral provided to reinforce everyday adoption after the sessions conclude: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468165"/>
            <a:ext cx="128587" cy="109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Calendar Invitations: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Automatic company-wide invites with zero pre-work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On-Demand Recording Hub: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High-definition video with searchable AI transcripts and chapter markers.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Interactive Polling: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Real-time Q&amp;A and live sentiment pulse checks during sessions.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2468165"/>
            <a:ext cx="100012" cy="1095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389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Novatech Prompt Library: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50+ pre-validated departmental prompt templates.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Responsible AI Quick Guide: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1-page desk reference for data security and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Track 2 Champion Pathway: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Application link for team members eager to join Sandbox Labs.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Participation, Access &amp; Learning 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981" y="473868"/>
            <a:ext cx="1824037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2059781"/>
            <a:ext cx="7010400" cy="590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55469" y="835818"/>
            <a:ext cx="848106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Open Q&amp;A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550193"/>
            <a:ext cx="80772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64748B"/>
                </a:solidFill>
                <a:latin typeface="Inter"/>
              </a:rPr>
              <a:t>Empowering every Novatech employee to build fluency, innovate fearlessly, and lead with AI confidence.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9706" y="523875"/>
            <a:ext cx="138112" cy="1095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9875" y="2290762"/>
            <a:ext cx="161925" cy="1285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67050" y="2278856"/>
            <a:ext cx="1685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334155"/>
                </a:solidFill>
                <a:latin typeface="Inter SemiBold"/>
              </a:rPr>
              <a:t>All-Hands Live Stream Link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75" y="2290762"/>
            <a:ext cx="142875" cy="1285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57800" y="2278856"/>
            <a:ext cx="1895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334155"/>
                </a:solidFill>
                <a:latin typeface="Inter SemiBold"/>
              </a:rPr>
              <a:t>Novatech AI Prompt Handbook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9975" y="2290762"/>
            <a:ext cx="133350" cy="1285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48575" y="2278856"/>
            <a:ext cx="1733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334155"/>
                </a:solidFill>
                <a:latin typeface="Inter SemiBold"/>
              </a:rPr>
              <a:t>Responsible AI Policy Portal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575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719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19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003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0753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https://media.socitm.net/wp-content/uploads/2024/06/16084437/Attentive-Pye.jpg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34089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socitm.net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719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879056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https://cdn.prod.website-files.com/668f1109d931de5cd16d38c0/6a6ec04b179074d619f285ad_69d57ad997b5e3619201f2dc_best-ai-assistants.png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112418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www.simular.ai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