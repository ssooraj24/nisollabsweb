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Nunito Light" pitchFamily="2" charset="0"/>
      <p:regular r:id="rId15"/>
    </p:embeddedFont>
    <p:embeddedFont>
      <p:font typeface="Nunito SemiBold" pitchFamily="2" charset="0"/>
      <p:regular r:id="rId16"/>
    </p:embeddedFont>
    <p:embeddedFont>
      <p:font typeface="PT Sans" panose="020B0503020203020204" pitchFamily="34" charset="0"/>
      <p:regular r:id="rId17"/>
    </p:embeddedFont>
    <p:embeddedFont>
      <p:font typeface="PT Sans Bold" panose="020B0703020203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399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info@nisolai.com" TargetMode="Externa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2538868"/>
            <a:ext cx="1503722" cy="303113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4" name="Text 1"/>
          <p:cNvSpPr/>
          <p:nvPr/>
        </p:nvSpPr>
        <p:spPr>
          <a:xfrm>
            <a:off x="817740" y="2598698"/>
            <a:ext cx="187399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NISO AI — PHASE I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57467" y="3204825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Enterprise AI Opportunity &amp; Transformation Strategy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57467" y="4677331"/>
            <a:ext cx="6223638" cy="963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From AI uncertainty to board-ready implementation blueprint in 7–11 business days. NISOL Discovery</a:t>
            </a: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™</a:t>
            </a: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replaces 3–6 months consulting cycles with rapid diagnostic, 15 board deliverables, and zero vendor lock-in.</a:t>
            </a:r>
            <a:endParaRPr lang="en-US" sz="15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450F01-D7BC-B204-1342-91A7F7A3B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232" y="616049"/>
            <a:ext cx="1584960" cy="158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672902"/>
            <a:ext cx="1440124" cy="257572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71668" y="723702"/>
            <a:ext cx="1846316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MARKET CHALLENGE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69971" y="988120"/>
            <a:ext cx="6223638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Enterprise AI Dilemma</a:t>
            </a:r>
            <a:endParaRPr lang="en-US" sz="3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702891"/>
            <a:ext cx="6223638" cy="21690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34680" y="1891407"/>
            <a:ext cx="5770418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Traditional Consulting Trap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534680" y="2227163"/>
            <a:ext cx="5770418" cy="1456234"/>
          </a:xfrm>
          <a:prstGeom prst="rect">
            <a:avLst/>
          </a:prstGeom>
          <a:noFill/>
          <a:ln/>
        </p:spPr>
        <p:txBody>
          <a:bodyPr wrap="square" lIns="0" tIns="67823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85%+ of AI initiatives stall in POC Hell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3–6 month strategy decks at massive cost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engineering reality or code execution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Unclear financials breed executive skepticism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Disjointed experiments create compliance risk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4015978"/>
            <a:ext cx="6223638" cy="21690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34680" y="4204494"/>
            <a:ext cx="5770418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What Enterprise Leaders Actually Need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5534680" y="4540250"/>
            <a:ext cx="5770418" cy="1456234"/>
          </a:xfrm>
          <a:prstGeom prst="rect">
            <a:avLst/>
          </a:prstGeom>
          <a:noFill/>
          <a:ln/>
        </p:spPr>
        <p:txBody>
          <a:bodyPr wrap="square" lIns="0" tIns="67823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Rapid diagnostic to prioritize high-impact use cases in days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Calculated financial business case with 5-year ROI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Production-grade blueprints ready for dev teams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End-to-end partner who can build, manage, or monitor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Complete ownership — zero vendor lock-in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865584"/>
            <a:ext cx="1897114" cy="303113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F2B4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925413"/>
            <a:ext cx="226738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STRATEGIC DIFFERENCE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24847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Transformation Partner, Not Strategy Advisory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98086" y="2134295"/>
            <a:ext cx="10795524" cy="3858022"/>
          </a:xfrm>
          <a:prstGeom prst="roundRect">
            <a:avLst>
              <a:gd name="adj" fmla="val 775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8086" y="2715022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611761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4189313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5086052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03959" y="2266652"/>
            <a:ext cx="258289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Lifecycle Aspect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276121" y="2266652"/>
            <a:ext cx="441601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Traditional Consulting Firms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81403" y="2266652"/>
            <a:ext cx="441601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Niso AI Transformation Partner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03959" y="2844205"/>
            <a:ext cx="258289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Primary Delivery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276121" y="2844205"/>
            <a:ext cx="441601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High-level advisory &amp; static PPT decks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81403" y="2844205"/>
            <a:ext cx="380643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Data-driven diagnostic &amp; actionable engineering blueprints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03959" y="3740944"/>
            <a:ext cx="258289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Time to Value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276121" y="3740944"/>
            <a:ext cx="441601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12–24 Weeks (3–6 Months)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81403" y="3740944"/>
            <a:ext cx="441601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7–11 Business Days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03959" y="4318496"/>
            <a:ext cx="258289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Capability Lifecycle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276121" y="4318496"/>
            <a:ext cx="441601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Recommend &amp; exit engagement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481403" y="4318496"/>
            <a:ext cx="380643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Discover → Build → Govern → Monitor → Scale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03959" y="5215235"/>
            <a:ext cx="258289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Technology Stack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276121" y="5215235"/>
            <a:ext cx="441601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Static manual spreadsheets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81403" y="5215235"/>
            <a:ext cx="3806432" cy="644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Nisol Intelligence</a:t>
            </a: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™</a:t>
            </a: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AI Platform + Senior Architects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656530"/>
            <a:ext cx="1275227" cy="227211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59663" y="701377"/>
            <a:ext cx="170542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ENGAGEMENT SCOPE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69971" y="928588"/>
            <a:ext cx="6223638" cy="886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Phase I: Nisol Discovery</a:t>
            </a:r>
            <a:r>
              <a:rPr lang="en-US" sz="27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™</a:t>
            </a:r>
            <a:r>
              <a:rPr lang="en-US" sz="2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Architecture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983284"/>
            <a:ext cx="6223638" cy="897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9694" y="2291854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999509" y="2151856"/>
            <a:ext cx="53255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Audit &amp; Assess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999509" y="2439095"/>
            <a:ext cx="5325532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15 enterprise capabilities: data pipelines, LLMOps, talent, and governance.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2993033"/>
            <a:ext cx="6223638" cy="8976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69694" y="3301603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5999509" y="3161605"/>
            <a:ext cx="53255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Map &amp; Prioritize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999509" y="3448844"/>
            <a:ext cx="5325532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20+ use cases categorized into a 2×2 Quick Wins vs. Strategic Bets matrix.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9971" y="4002782"/>
            <a:ext cx="6223638" cy="104328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69694" y="4384179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5999509" y="4171355"/>
            <a:ext cx="53255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Financial ROI Model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999509" y="4458593"/>
            <a:ext cx="5325532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a 5-year financial model with CapEx/OpEx breakdown and 3–6 month payback schedule.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5158184"/>
            <a:ext cx="6223638" cy="104328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69694" y="5539581"/>
            <a:ext cx="22432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20" name="Text 13"/>
          <p:cNvSpPr/>
          <p:nvPr/>
        </p:nvSpPr>
        <p:spPr>
          <a:xfrm>
            <a:off x="5999509" y="5326757"/>
            <a:ext cx="53255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Solution Blueprints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999509" y="5613995"/>
            <a:ext cx="5325532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Deliver production-grade technical blueprints and compliance frameworks for dev teams.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822623"/>
            <a:ext cx="1549064" cy="242491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93829" y="870446"/>
            <a:ext cx="1967161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ENGINEERED PRECISION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98086" y="1116112"/>
            <a:ext cx="622363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Proprietary Diagnostic Framework</a:t>
            </a:r>
            <a:endParaRPr lang="en-US" sz="2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777008"/>
            <a:ext cx="319080" cy="3190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8086" y="2255639"/>
            <a:ext cx="622363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62-Point Assessment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98086" y="2566888"/>
            <a:ext cx="622363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Structured discovery across 15 enterprise capabilities evaluating data hygiene, security, cloud infrastructure, and talent readiness.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281561"/>
            <a:ext cx="319080" cy="3190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86" y="3760192"/>
            <a:ext cx="622363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Nisol Intelligence</a:t>
            </a: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™</a:t>
            </a: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Platform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98086" y="4071441"/>
            <a:ext cx="622363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Proprietary AI diagnostic platform synthesizes discovery inputs, benchmarks readiness scores, and generates initial blueprints.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786114"/>
            <a:ext cx="319080" cy="3190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8086" y="5264745"/>
            <a:ext cx="622363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25+ Years Enterprise Oversight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98086" y="5575995"/>
            <a:ext cx="622363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Senior enterprise architects review, audit, and validate every deliverable for executive board defense.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581422"/>
            <a:ext cx="1239310" cy="238621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92242" y="628452"/>
            <a:ext cx="1660583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EXECUTIVE ASSETS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98086" y="869454"/>
            <a:ext cx="6223638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15 Board-Ready Deliverables in 3 Packs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98086" y="1978918"/>
            <a:ext cx="3050007" cy="1685330"/>
          </a:xfrm>
          <a:prstGeom prst="roundRect">
            <a:avLst>
              <a:gd name="adj" fmla="val 13982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4195" y="2155031"/>
            <a:ext cx="269779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Executive Intelligence Pack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74195" y="2460228"/>
            <a:ext cx="2697790" cy="1027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Executive Summary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Maturity Scorecard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Executive Dashboard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Readiness Audit Report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71716" y="1978918"/>
            <a:ext cx="3050007" cy="1685330"/>
          </a:xfrm>
          <a:prstGeom prst="roundRect">
            <a:avLst>
              <a:gd name="adj" fmla="val 13982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7825" y="2155031"/>
            <a:ext cx="269779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Opportunity Pack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047825" y="2460228"/>
            <a:ext cx="2697790" cy="1027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Opportunity Matrix (2×2)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20 Use Cases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Quick Wins vs. Strategic Bets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Implementation Framework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8086" y="3787874"/>
            <a:ext cx="6223638" cy="2488704"/>
          </a:xfrm>
          <a:prstGeom prst="roundRect">
            <a:avLst>
              <a:gd name="adj" fmla="val 9468"/>
            </a:avLst>
          </a:prstGeom>
          <a:solidFill>
            <a:srgbClr val="00002E">
              <a:alpha val="75000"/>
            </a:srgbClr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4195" y="3963988"/>
            <a:ext cx="587142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Transformation Pack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74195" y="4269184"/>
            <a:ext cx="5871420" cy="1831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3-Year Roadmap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Financial ROI Model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Case Defense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 Blueprints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Change Management Plan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6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Risk &amp; Compliance Matrix</a:t>
            </a:r>
            <a:endParaRPr lang="en-US" sz="1200" dirty="0"/>
          </a:p>
          <a:p>
            <a:pPr marL="243840" indent="-243840" algn="l">
              <a:lnSpc>
                <a:spcPct val="119000"/>
              </a:lnSpc>
              <a:buSzPct val="100000"/>
              <a:buFont typeface="+mj-lt"/>
              <a:buAutoNum type="arabicPeriod" startAt="7"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KPI Success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59495"/>
            <a:ext cx="1944440" cy="253504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8195" y="609501"/>
            <a:ext cx="235380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PRIORITIZATION FRAMEWORK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868859"/>
            <a:ext cx="10795524" cy="4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Strategic AI Opportunity Matrix (2×2)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98086" y="3566021"/>
            <a:ext cx="519417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AI use case is scored on </a:t>
            </a:r>
            <a:r>
              <a:rPr lang="en-US" sz="13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business impact</a:t>
            </a: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vs. </a:t>
            </a:r>
            <a:r>
              <a:rPr lang="en-US" sz="13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implementation effort</a:t>
            </a: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creating a clear, defensible prioritization framework for executive decision-making.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89" y="1726208"/>
            <a:ext cx="4415025" cy="4415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720328"/>
            <a:ext cx="1517116" cy="257572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71668" y="771128"/>
            <a:ext cx="1923307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FINANCIAL MODELING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69971" y="1035546"/>
            <a:ext cx="6223638" cy="997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Quantified Business ROI &amp; Financial Defense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496581" y="2333724"/>
            <a:ext cx="2568412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10–50x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269971" y="3086100"/>
            <a:ext cx="302173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Target ROI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269971" y="3421856"/>
            <a:ext cx="302173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Operational efficiency, labor cost savings, and automated workflow execution.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98389" y="2333724"/>
            <a:ext cx="2568511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3–6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471779" y="3086100"/>
            <a:ext cx="3021830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Month Payback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71779" y="3421856"/>
            <a:ext cx="3021830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Quick-Win AI agents generate immediate returns to fund the long-term roadmap.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97436" y="4296668"/>
            <a:ext cx="2568511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870826" y="5049044"/>
            <a:ext cx="3021830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Year Financial Model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870826" y="5384800"/>
            <a:ext cx="3021830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Complete CapEx/OpEx modeling including cloud compute and licensing costs.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584398"/>
            <a:ext cx="1523962" cy="272752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5735" y="638175"/>
            <a:ext cx="1918247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PHASE II EXECUTION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8086" y="921742"/>
            <a:ext cx="6223638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Flexible Delivery Pathways — Your Way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98086" y="2220119"/>
            <a:ext cx="3031057" cy="2218730"/>
          </a:xfrm>
          <a:prstGeom prst="roundRect">
            <a:avLst>
              <a:gd name="adj" fmla="val 12137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617" y="2418655"/>
            <a:ext cx="2633993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Model 1: Build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96617" y="2779613"/>
            <a:ext cx="2633993" cy="1187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End-to-End Implementation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design, engineer, deploy, and operationalize custom AI agents and platforms for your enterprise.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90667" y="2220119"/>
            <a:ext cx="3031057" cy="2218730"/>
          </a:xfrm>
          <a:prstGeom prst="roundRect">
            <a:avLst>
              <a:gd name="adj" fmla="val 12137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89198" y="2418655"/>
            <a:ext cx="2633993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Model 2: Manage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089198" y="2779613"/>
            <a:ext cx="2633993" cy="1460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Program &amp; Vendor Oversight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manage internal engineering teams or external vendors to ensure architecture standards and delivery specs.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8086" y="4600377"/>
            <a:ext cx="6223638" cy="1673225"/>
          </a:xfrm>
          <a:prstGeom prst="roundRect">
            <a:avLst>
              <a:gd name="adj" fmla="val 16094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617" y="4798913"/>
            <a:ext cx="582657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Model 3: Monitor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96617" y="5159871"/>
            <a:ext cx="5826575" cy="915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75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Advisory &amp; Code QA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conduct independent code reviews, security audits, and architectural QA to ensure roadmap alignment.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989409"/>
            <a:ext cx="1576546" cy="272752"/>
          </a:xfrm>
          <a:prstGeom prst="roundRect">
            <a:avLst>
              <a:gd name="adj" fmla="val 49999"/>
            </a:avLst>
          </a:prstGeom>
          <a:noFill/>
          <a:ln w="12700">
            <a:solidFill>
              <a:srgbClr val="F2B4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5735" y="1043186"/>
            <a:ext cx="1970832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EXECUTION CADENCE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8086" y="1326753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7–11 Business Day Discovery Timeline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98086" y="2097088"/>
            <a:ext cx="10795524" cy="2920405"/>
          </a:xfrm>
          <a:prstGeom prst="roundRect">
            <a:avLst>
              <a:gd name="adj" fmla="val 9221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8086" y="2585938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071614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3557290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4042966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8086" y="4528641"/>
            <a:ext cx="10795524" cy="1122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83918" y="2206724"/>
            <a:ext cx="2407185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Timeline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40483" y="2206724"/>
            <a:ext cx="402460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Focus Area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4471" y="2206724"/>
            <a:ext cx="510289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Key Deliverables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3918" y="2692400"/>
            <a:ext cx="2407185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 1–2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40483" y="2692400"/>
            <a:ext cx="402460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Kickoff &amp; Discovery Sessions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4471" y="2692400"/>
            <a:ext cx="510289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62-point diagnostic interview with executive &amp; tech leads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3918" y="3178076"/>
            <a:ext cx="2407185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 3–5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40483" y="3178076"/>
            <a:ext cx="402460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Engine Processing &amp; Capability 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4471" y="3178076"/>
            <a:ext cx="510289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Maturity scorecard &amp; infrastructure gap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3918" y="3663752"/>
            <a:ext cx="2407185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 6–7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40483" y="3663752"/>
            <a:ext cx="402460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 Case Mapping &amp; Matrix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4471" y="3663752"/>
            <a:ext cx="510289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2×2 Opportunity Matrix &amp; Top 20 Use Cases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3918" y="4149427"/>
            <a:ext cx="2407185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 8–9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40483" y="4149427"/>
            <a:ext cx="402460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Financial ROI &amp; Blueprints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4471" y="4149427"/>
            <a:ext cx="510289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5-Year Financial ROI Model &amp; Solution Blueprints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3918" y="4635103"/>
            <a:ext cx="2407185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Days 10–11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40483" y="4635103"/>
            <a:ext cx="4024609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Consultant Review &amp; Board Defense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4471" y="4635103"/>
            <a:ext cx="510289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Complete 15-Deliverable Package &amp; C-Suite presentation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8086" y="5199261"/>
            <a:ext cx="10795524" cy="669330"/>
          </a:xfrm>
          <a:prstGeom prst="roundRect">
            <a:avLst>
              <a:gd name="adj" fmla="val 40234"/>
            </a:avLst>
          </a:prstGeom>
          <a:solidFill>
            <a:srgbClr val="785507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68" y="5426373"/>
            <a:ext cx="224328" cy="179487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81378" y="5405636"/>
            <a:ext cx="10642334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deliverable is reviewed by senior enterprise architects before final board presentation.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84609"/>
            <a:ext cx="1609883" cy="288032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811788" y="741462"/>
            <a:ext cx="1992064" cy="174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VALUE PROPOSITION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044575"/>
            <a:ext cx="10795524" cy="56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Why Invest in Nisol Discovery</a:t>
            </a:r>
            <a:r>
              <a:rPr lang="en-US" sz="3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™</a:t>
            </a:r>
            <a:r>
              <a:rPr lang="en-US" sz="3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?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8086" y="2058194"/>
            <a:ext cx="51665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Investment Value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125" y="2548781"/>
            <a:ext cx="284255" cy="284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3921" y="2539305"/>
            <a:ext cx="455075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Prevent costly mistakes</a:t>
            </a: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Avoid millions in capital allocation to doomed AI pilots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125" y="3499991"/>
            <a:ext cx="284255" cy="2842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3921" y="3490516"/>
            <a:ext cx="455075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Senior-led expertise</a:t>
            </a: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25+ year enterprise architects, zero junior consultants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125" y="4451201"/>
            <a:ext cx="284255" cy="2842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13921" y="4441726"/>
            <a:ext cx="4550753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Fast-track delivery</a:t>
            </a: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11 business days vs. the industry standard of 3–6 months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125" y="5402411"/>
            <a:ext cx="284255" cy="2842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13921" y="5392936"/>
            <a:ext cx="4550753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Zero lock-in</a:t>
            </a:r>
            <a:r>
              <a:rPr lang="en-US" sz="14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100% code &amp; IP ownership guaranteed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196949" y="1878211"/>
            <a:ext cx="5439433" cy="4295180"/>
          </a:xfrm>
          <a:prstGeom prst="roundRect">
            <a:avLst>
              <a:gd name="adj" fmla="val 10589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6386452" y="2058194"/>
            <a:ext cx="506042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Guaranteed Engagement Outcome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670707" y="2701330"/>
            <a:ext cx="4776172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"At the conclusion of 11 business days, your leadership team receives complete executive clarity, an audited 5-year financial model, and production-ready solution blueprints ready for immediate execution in Phase II."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386452" y="2539305"/>
            <a:ext cx="25399" cy="1506339"/>
          </a:xfrm>
          <a:prstGeom prst="roundRect">
            <a:avLst>
              <a:gd name="adj" fmla="val 50001"/>
            </a:avLst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573286"/>
            <a:ext cx="959124" cy="268486"/>
          </a:xfrm>
          <a:prstGeom prst="roundRect">
            <a:avLst>
              <a:gd name="adj" fmla="val 49999"/>
            </a:avLst>
          </a:prstGeom>
          <a:solidFill>
            <a:srgbClr val="483304"/>
          </a:solidFill>
          <a:ln/>
        </p:spPr>
      </p:sp>
      <p:sp>
        <p:nvSpPr>
          <p:cNvPr id="4" name="Text 1"/>
          <p:cNvSpPr/>
          <p:nvPr/>
        </p:nvSpPr>
        <p:spPr>
          <a:xfrm>
            <a:off x="804049" y="626269"/>
            <a:ext cx="1356782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98086" y="904379"/>
            <a:ext cx="6223638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Turn AI Ambition into Enterprise Reality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98086" y="2178645"/>
            <a:ext cx="3534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98086" y="2459930"/>
            <a:ext cx="3033537" cy="19050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8" name="Text 5"/>
          <p:cNvSpPr/>
          <p:nvPr/>
        </p:nvSpPr>
        <p:spPr>
          <a:xfrm>
            <a:off x="698086" y="2586335"/>
            <a:ext cx="3033537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Schedule Alignment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8086" y="2940149"/>
            <a:ext cx="3033537" cy="79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30-minute discovery session to scope diagnostic parameters and align on enterprise priorities.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888186" y="2178645"/>
            <a:ext cx="3534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88186" y="2459930"/>
            <a:ext cx="3033537" cy="19050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12" name="Text 9"/>
          <p:cNvSpPr/>
          <p:nvPr/>
        </p:nvSpPr>
        <p:spPr>
          <a:xfrm>
            <a:off x="3888186" y="2586335"/>
            <a:ext cx="3033537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Launch Diagnostic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88186" y="2940149"/>
            <a:ext cx="3033537" cy="79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Execute the 62-point audit with key enterprise stakeholders across business and technology.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8086" y="4028976"/>
            <a:ext cx="3534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98086" y="4310261"/>
            <a:ext cx="6223638" cy="19050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6" name="Text 13"/>
          <p:cNvSpPr/>
          <p:nvPr/>
        </p:nvSpPr>
        <p:spPr>
          <a:xfrm>
            <a:off x="698086" y="4436666"/>
            <a:ext cx="6223638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Executive Presentation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8086" y="4790480"/>
            <a:ext cx="6223638" cy="533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Receive 15 board-ready deliverables in 11 business days — ready for C-suite defense.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98086" y="5632252"/>
            <a:ext cx="6223638" cy="652363"/>
          </a:xfrm>
          <a:prstGeom prst="roundRect">
            <a:avLst>
              <a:gd name="adj" fmla="val 40635"/>
            </a:avLst>
          </a:prstGeom>
          <a:solidFill>
            <a:srgbClr val="785507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90" y="5856089"/>
            <a:ext cx="220855" cy="17670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72349" y="5832971"/>
            <a:ext cx="6082255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Niso AI Transformation Practice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· nisolai.com · </a:t>
            </a:r>
            <a:r>
              <a:rPr lang="en-US" sz="1350" b="1" u="sng" dirty="0">
                <a:solidFill>
                  <a:srgbClr val="F2B42D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info@nisolai.com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860</Words>
  <Application>Microsoft Office PowerPoint</Application>
  <PresentationFormat>Widescreen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Twemoji Mozilla</vt:lpstr>
      <vt:lpstr>Nunito SemiBold</vt:lpstr>
      <vt:lpstr>PT Sans</vt:lpstr>
      <vt:lpstr>Nunito Light</vt:lpstr>
      <vt:lpstr>PT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Ssooraj Rauth</cp:lastModifiedBy>
  <cp:revision>4</cp:revision>
  <dcterms:created xsi:type="dcterms:W3CDTF">2026-08-12T07:13:08Z</dcterms:created>
  <dcterms:modified xsi:type="dcterms:W3CDTF">2026-08-12T07:20:58Z</dcterms:modified>
</cp:coreProperties>
</file>